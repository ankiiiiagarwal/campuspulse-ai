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F14CB-45E6-40E7-9F0C-8F6E8F37036B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C31E4-123A-491D-91A2-E51B5AAD4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220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Hi, we are Team CampusPulse. CampusPulse AI turns hostel WhatsApp complaints into a live map and a safety-first admin queue. No student login. Entirely free stack. In 4 minutes we will show the problem, what we built, the tech, and a live demo.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C31E4-123A-491D-91A2-E51B5AAD48B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025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rush. Point at the three tickets. Then say: the core failure is communication. WhatsApp, verbal, office notes. Admin cannot see urgency, duplicates, or repair time. That is what we fix.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C31E4-123A-491D-91A2-E51B5AAD48B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615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Hold this slide. Student side is identity-light on purpose. Admin is the only login. Shared map is the product. Then go to how it works.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C31E4-123A-491D-91A2-E51B5AAD48B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493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the five rows top to bottom. Then point at the right card: we did not fake YOLO or a trained forest. Honest AI is classify + merge + formula. That is a feature, not a weakness.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C31E4-123A-491D-91A2-E51B5AAD48B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253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honesty slide. Read the formula out loud. Electrical hazard beats a broken lock. Then say what we refused to fake: no YOLO, no Whisper GPU, no pretend Random Forest.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C31E4-123A-491D-91A2-E51B5AAD48B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112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they ask cost: every box is a free tier. If they ask scale: Supabase + Vercel is enough for a campus. If they ask why no FastAPI: one app is more reliable on demo day.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C31E4-123A-491D-91A2-E51B5AAD48B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83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Say: we will now open the live app. Do not talk over the clicks. 1 map, 2 Me too, 3 new report, 4 admin resolve. If Groq spins, submit anyway and say fallback. Then come back here for close.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C31E4-123A-491D-91A2-E51B5AAD48B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025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End on the yellow bar. Do not add future IoT unless asked. If asked what is next: longer history, QR posters, Hindi. If asked privacy: no identity fields, EXIF stripped, photos can still identify someone.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C31E4-123A-491D-91A2-E51B5AAD48B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050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6168-7548-B70A-ABA5-21530ABCC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C3906-00E7-272E-9333-B42FE8110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F9D44-DAF0-DDC6-512D-438519F5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AF50A-125D-7CF4-6E98-B9DA7B84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0CB40-AA5A-4FE7-2C24-F56F7500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1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9589-FD0C-3D2A-EA5B-F3EEEC32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8DCD7-261C-F44C-208B-73A9984D2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692F2-2AAB-E0BD-AF47-BF8E6B245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62528-E53F-D492-0059-3D730931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6E4B5-1CCD-C691-8031-74CC5626E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9D66-927E-150D-89C9-B025CE2C7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5360A-C3F6-4680-2FA1-F535A060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3C8DB-6BD0-FFF4-127C-0676BBFDB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9F981-544D-9E2E-01AF-2B98F676C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87B89-AE89-4D17-17AD-C6194CC3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26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F4070-0359-3A23-D410-B0AAFE33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8F1C9-4A80-1569-0D6A-D95ECE44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CC300-CBBC-852B-4DA0-9057E4919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02CD4-CFA3-DAA2-AA28-64FD450B0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1607F-21CF-BE65-F517-F6B1D742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93438-77A8-F432-3051-55125094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673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F7091-3709-2FC1-34F0-D9AB70E7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1379D-8518-FC78-E75C-319090B08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CB8C9-00CC-1753-D5CF-5FBF2F395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75CF9-56A9-E562-3A99-1743743259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C0762-0C1D-2937-F7F9-D49983B778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B3B80-9D56-5195-1FD9-90F71700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A38B82-0220-B0F4-EB49-7587228B6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39D958-20CA-AFD6-1E64-058587893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37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EE6B6-8B4C-44F0-0853-5BD0A653F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B8E8B-6B07-6EBE-C6C2-49A882A1D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91956-8289-BDC6-D257-F172F861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D978F-7B64-FBA4-CE62-3F6C8A67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00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3F717E-87F0-0D58-0190-8D7F9421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C87C4-096E-52CB-46B6-0BE365A72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0D5D1-250E-F10C-5AAA-2BAB741C5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98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181D-2204-9B59-5EA9-CFA3D01C9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73A06-820F-0178-AA56-ADFCBD134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2C575-808D-76B6-D7B6-2601ACCC3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7D047-F7D8-A677-386D-8330F833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358D4-A151-526D-B0C7-AEB8BCB9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B78DC-EBC1-629A-7FAB-59DFED7D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51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7392-D891-BE0B-D02D-B305EE210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760973-0F3C-09C7-68C9-9882A6E0C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E104C-59C6-804B-D5F5-71D57242B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B77F7-1F8F-9133-4E43-3995595D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CC8CE-B9A2-3788-A1AB-F4F4BB63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F6AC2-A676-2E7B-0741-DDDF186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766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2CE2C-AF07-6CAF-37B8-FE02A7CBD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295CE-5826-CFD5-73BE-71B46CEA7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6338C-3DF8-C7F8-442C-676F609E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64122-09C6-B5DA-9701-E094240F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804A8-7B2E-4D69-C741-78B1FFE1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96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477D9-FF7E-077F-4383-82AA6C095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561B4-A0A1-BF29-1B0F-A685B7B31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5261D-8087-B1BA-8941-D7B89F192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F6CC4-4CA4-B3C7-6756-C8E34140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C1226-E846-6BA2-8D5F-4266319A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745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6ED227-D716-F3BB-85CA-27865FF08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B9770-A826-83ED-08DF-F608E2F4C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EFAA-B759-4B06-F20D-A5BF370F2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67B76-3115-408E-8B9D-CF1472E04C8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8AE01-2E29-0C36-1C5B-5AC58639E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65EAD-B087-2B05-554F-E7319D2E3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B7806-085B-4890-9B94-86DC0967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161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AF3310-41FE-63B6-A579-2C9F494B88A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E39ED9-29D7-5B78-E0A9-6D33EAFE5083}"/>
              </a:ext>
            </a:extLst>
          </p:cNvPr>
          <p:cNvSpPr txBox="1"/>
          <p:nvPr/>
        </p:nvSpPr>
        <p:spPr>
          <a:xfrm>
            <a:off x="457200" y="355600"/>
            <a:ext cx="8890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sv-SE" sz="1200" b="1">
                <a:solidFill>
                  <a:srgbClr val="50E6DC"/>
                </a:solidFill>
                <a:latin typeface="Calibri" panose="020F0502020204030204" pitchFamily="34" charset="0"/>
              </a:rPr>
              <a:t>HACKATHON PRESENTATION  |  4 MINUTES  |  RS 0 STACK</a:t>
            </a:r>
            <a:endParaRPr lang="en-IN" sz="1200" b="1">
              <a:solidFill>
                <a:srgbClr val="50E6DC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61FA5-73B8-4447-2E2A-E99E4D71F0BD}"/>
              </a:ext>
            </a:extLst>
          </p:cNvPr>
          <p:cNvSpPr txBox="1"/>
          <p:nvPr/>
        </p:nvSpPr>
        <p:spPr>
          <a:xfrm>
            <a:off x="381000" y="812800"/>
            <a:ext cx="88900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Calibri" panose="020F0502020204030204" pitchFamily="34" charset="0"/>
              </a:rPr>
              <a:t>CampusPulse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5737A-367F-A6C3-4391-88F05AB99DE3}"/>
              </a:ext>
            </a:extLst>
          </p:cNvPr>
          <p:cNvSpPr txBox="1"/>
          <p:nvPr/>
        </p:nvSpPr>
        <p:spPr>
          <a:xfrm>
            <a:off x="457200" y="1625600"/>
            <a:ext cx="81280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2200">
                <a:solidFill>
                  <a:srgbClr val="FFB020"/>
                </a:solidFill>
                <a:latin typeface="Calibri" panose="020F0502020204030204" pitchFamily="34" charset="0"/>
              </a:rPr>
              <a:t>Smart campus issue desk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D4135C-6732-B05C-B903-76A5B0B24DE3}"/>
              </a:ext>
            </a:extLst>
          </p:cNvPr>
          <p:cNvSpPr txBox="1"/>
          <p:nvPr/>
        </p:nvSpPr>
        <p:spPr>
          <a:xfrm>
            <a:off x="457200" y="2235200"/>
            <a:ext cx="78740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>
                <a:solidFill>
                  <a:srgbClr val="DCDCE2"/>
                </a:solidFill>
                <a:latin typeface="Calibri" panose="020F0502020204030204" pitchFamily="34" charset="0"/>
              </a:rPr>
              <a:t>Scattered WhatsApp complaints become a ranked,</a:t>
            </a:r>
          </a:p>
          <a:p>
            <a:r>
              <a:rPr lang="en-US">
                <a:solidFill>
                  <a:srgbClr val="DCDCE2"/>
                </a:solidFill>
                <a:latin typeface="Calibri" panose="020F0502020204030204" pitchFamily="34" charset="0"/>
              </a:rPr>
              <a:t>map-visible maintenance pipeline.</a:t>
            </a:r>
            <a:endParaRPr lang="en-IN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B47D85-C866-BEEF-7D57-15466F732327}"/>
              </a:ext>
            </a:extLst>
          </p:cNvPr>
          <p:cNvSpPr/>
          <p:nvPr/>
        </p:nvSpPr>
        <p:spPr>
          <a:xfrm>
            <a:off x="457200" y="3429000"/>
            <a:ext cx="2540000" cy="10922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70014-A490-F1BF-1804-9E4BEC5CFA57}"/>
              </a:ext>
            </a:extLst>
          </p:cNvPr>
          <p:cNvSpPr txBox="1"/>
          <p:nvPr/>
        </p:nvSpPr>
        <p:spPr>
          <a:xfrm>
            <a:off x="609600" y="3556000"/>
            <a:ext cx="2235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2200" b="1">
                <a:solidFill>
                  <a:srgbClr val="FFB020"/>
                </a:solidFill>
                <a:latin typeface="Calibri" panose="020F0502020204030204" pitchFamily="34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C823F2-CC00-C5E5-68B3-10E8D0058BF7}"/>
              </a:ext>
            </a:extLst>
          </p:cNvPr>
          <p:cNvSpPr txBox="1"/>
          <p:nvPr/>
        </p:nvSpPr>
        <p:spPr>
          <a:xfrm>
            <a:off x="609600" y="3962400"/>
            <a:ext cx="2235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>
                <a:solidFill>
                  <a:srgbClr val="8C8C96"/>
                </a:solidFill>
                <a:latin typeface="Calibri" panose="020F0502020204030204" pitchFamily="34" charset="0"/>
              </a:rPr>
              <a:t>student login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92286B-5550-C917-6A63-902F40810827}"/>
              </a:ext>
            </a:extLst>
          </p:cNvPr>
          <p:cNvSpPr/>
          <p:nvPr/>
        </p:nvSpPr>
        <p:spPr>
          <a:xfrm>
            <a:off x="3149600" y="3429000"/>
            <a:ext cx="2540000" cy="10922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854C37-D1EA-1AD6-E5D0-ABB3230A558B}"/>
              </a:ext>
            </a:extLst>
          </p:cNvPr>
          <p:cNvSpPr txBox="1"/>
          <p:nvPr/>
        </p:nvSpPr>
        <p:spPr>
          <a:xfrm>
            <a:off x="3302000" y="3556000"/>
            <a:ext cx="2235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2200" b="1">
                <a:solidFill>
                  <a:srgbClr val="50E6DC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5F7CD-AFFF-D0FE-AAC0-2F11B13E42E5}"/>
              </a:ext>
            </a:extLst>
          </p:cNvPr>
          <p:cNvSpPr txBox="1"/>
          <p:nvPr/>
        </p:nvSpPr>
        <p:spPr>
          <a:xfrm>
            <a:off x="3302000" y="3962400"/>
            <a:ext cx="2235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>
                <a:solidFill>
                  <a:srgbClr val="8C8C96"/>
                </a:solidFill>
                <a:latin typeface="Calibri" panose="020F0502020204030204" pitchFamily="34" charset="0"/>
              </a:rPr>
              <a:t>roles, one app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256BA0-B2CB-0AC6-417F-2AD5E737C006}"/>
              </a:ext>
            </a:extLst>
          </p:cNvPr>
          <p:cNvSpPr/>
          <p:nvPr/>
        </p:nvSpPr>
        <p:spPr>
          <a:xfrm>
            <a:off x="5842000" y="3429000"/>
            <a:ext cx="2540000" cy="10922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3EB3A9-29E6-94F5-6AEC-00BB35BE3C10}"/>
              </a:ext>
            </a:extLst>
          </p:cNvPr>
          <p:cNvSpPr txBox="1"/>
          <p:nvPr/>
        </p:nvSpPr>
        <p:spPr>
          <a:xfrm>
            <a:off x="5994400" y="3556000"/>
            <a:ext cx="22352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Calibri" panose="020F0502020204030204" pitchFamily="34" charset="0"/>
              </a:rPr>
              <a:t>Rs 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D452CB-44C0-07FE-3EE3-8414ABB94123}"/>
              </a:ext>
            </a:extLst>
          </p:cNvPr>
          <p:cNvSpPr txBox="1"/>
          <p:nvPr/>
        </p:nvSpPr>
        <p:spPr>
          <a:xfrm>
            <a:off x="5994400" y="3962400"/>
            <a:ext cx="2235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>
                <a:solidFill>
                  <a:srgbClr val="8C8C96"/>
                </a:solidFill>
                <a:latin typeface="Calibri" panose="020F0502020204030204" pitchFamily="34" charset="0"/>
              </a:rPr>
              <a:t>to run the demo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B50FB10-3490-3739-D678-DE4D8C868E9E}"/>
              </a:ext>
            </a:extLst>
          </p:cNvPr>
          <p:cNvSpPr/>
          <p:nvPr/>
        </p:nvSpPr>
        <p:spPr>
          <a:xfrm>
            <a:off x="457200" y="4724400"/>
            <a:ext cx="7924800" cy="14732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0EC8B5-687E-EFB1-1806-40E4A07E14BD}"/>
              </a:ext>
            </a:extLst>
          </p:cNvPr>
          <p:cNvSpPr txBox="1"/>
          <p:nvPr/>
        </p:nvSpPr>
        <p:spPr>
          <a:xfrm>
            <a:off x="660400" y="4876800"/>
            <a:ext cx="7518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 b="1">
                <a:solidFill>
                  <a:srgbClr val="FFB020"/>
                </a:solidFill>
                <a:latin typeface="Calibri" panose="020F0502020204030204" pitchFamily="34" charset="0"/>
              </a:rPr>
              <a:t>TEAM  (edit these names before you present)</a:t>
            </a:r>
            <a:endParaRPr lang="en-IN" sz="1200" b="1">
              <a:solidFill>
                <a:srgbClr val="FFB02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E43D49-CEE2-EAB0-29C0-2E3F8E50D5AC}"/>
              </a:ext>
            </a:extLst>
          </p:cNvPr>
          <p:cNvSpPr txBox="1"/>
          <p:nvPr/>
        </p:nvSpPr>
        <p:spPr>
          <a:xfrm>
            <a:off x="660400" y="5232400"/>
            <a:ext cx="75184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b="1">
                <a:solidFill>
                  <a:srgbClr val="FFFFFF"/>
                </a:solidFill>
                <a:latin typeface="Calibri" panose="020F0502020204030204" pitchFamily="34" charset="0"/>
              </a:rPr>
              <a:t>Team CampusPulse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D6015C-E929-C8E6-A3D8-46176177C2FD}"/>
              </a:ext>
            </a:extLst>
          </p:cNvPr>
          <p:cNvSpPr txBox="1"/>
          <p:nvPr/>
        </p:nvSpPr>
        <p:spPr>
          <a:xfrm>
            <a:off x="660400" y="5664200"/>
            <a:ext cx="7518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Member 1    Member 2    Member 3    Member 4</a:t>
            </a:r>
            <a:endParaRPr lang="en-IN" sz="14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925E6D-57FA-BDE6-DDDB-2BBF80B0522D}"/>
              </a:ext>
            </a:extLst>
          </p:cNvPr>
          <p:cNvSpPr/>
          <p:nvPr/>
        </p:nvSpPr>
        <p:spPr>
          <a:xfrm>
            <a:off x="8737600" y="0"/>
            <a:ext cx="3454400" cy="68580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07396F-D71D-F774-2133-367F57DF0DD0}"/>
              </a:ext>
            </a:extLst>
          </p:cNvPr>
          <p:cNvSpPr txBox="1"/>
          <p:nvPr/>
        </p:nvSpPr>
        <p:spPr>
          <a:xfrm>
            <a:off x="8940800" y="889000"/>
            <a:ext cx="3048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 b="1">
                <a:solidFill>
                  <a:srgbClr val="08080A"/>
                </a:solidFill>
                <a:latin typeface="Calibri" panose="020F0502020204030204" pitchFamily="34" charset="0"/>
              </a:rPr>
              <a:t>TODAY YOU WILL SEE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A0717F-F644-9E3B-45DE-202AEC9A2B59}"/>
              </a:ext>
            </a:extLst>
          </p:cNvPr>
          <p:cNvSpPr txBox="1"/>
          <p:nvPr/>
        </p:nvSpPr>
        <p:spPr>
          <a:xfrm>
            <a:off x="8940800" y="1397000"/>
            <a:ext cx="3048000" cy="21698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500">
                <a:solidFill>
                  <a:srgbClr val="08080A"/>
                </a:solidFill>
                <a:latin typeface="Calibri" panose="020F0502020204030204" pitchFamily="34" charset="0"/>
              </a:rPr>
              <a:t>1. The campus mess</a:t>
            </a:r>
          </a:p>
          <a:p>
            <a:endParaRPr lang="en-US" sz="1500">
              <a:solidFill>
                <a:srgbClr val="08080A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08080A"/>
                </a:solidFill>
                <a:latin typeface="Calibri" panose="020F0502020204030204" pitchFamily="34" charset="0"/>
              </a:rPr>
              <a:t>2. The product we built</a:t>
            </a:r>
          </a:p>
          <a:p>
            <a:endParaRPr lang="en-US" sz="1500">
              <a:solidFill>
                <a:srgbClr val="08080A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08080A"/>
                </a:solidFill>
                <a:latin typeface="Calibri" panose="020F0502020204030204" pitchFamily="34" charset="0"/>
              </a:rPr>
              <a:t>3. The exact AI + stack</a:t>
            </a:r>
          </a:p>
          <a:p>
            <a:endParaRPr lang="en-US" sz="1500">
              <a:solidFill>
                <a:srgbClr val="08080A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08080A"/>
                </a:solidFill>
                <a:latin typeface="Calibri" panose="020F0502020204030204" pitchFamily="34" charset="0"/>
              </a:rPr>
              <a:t>4. A 90-second live demo</a:t>
            </a:r>
          </a:p>
          <a:p>
            <a:endParaRPr lang="en-US" sz="1500">
              <a:solidFill>
                <a:srgbClr val="08080A"/>
              </a:solidFill>
              <a:latin typeface="Calibri" panose="020F0502020204030204" pitchFamily="34" charset="0"/>
            </a:endParaRPr>
          </a:p>
          <a:p>
            <a:r>
              <a:rPr lang="en-US" sz="1500">
                <a:solidFill>
                  <a:srgbClr val="08080A"/>
                </a:solidFill>
                <a:latin typeface="Calibri" panose="020F0502020204030204" pitchFamily="34" charset="0"/>
              </a:rPr>
              <a:t>5. Health score 72 to 75</a:t>
            </a:r>
            <a:endParaRPr lang="en-IN" sz="1500">
              <a:solidFill>
                <a:srgbClr val="08080A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4C987F-7727-2E52-96C8-9BD433508D88}"/>
              </a:ext>
            </a:extLst>
          </p:cNvPr>
          <p:cNvSpPr txBox="1"/>
          <p:nvPr/>
        </p:nvSpPr>
        <p:spPr>
          <a:xfrm>
            <a:off x="8940800" y="5461000"/>
            <a:ext cx="304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 b="1">
                <a:solidFill>
                  <a:srgbClr val="08080A"/>
                </a:solidFill>
                <a:latin typeface="Calibri" panose="020F0502020204030204" pitchFamily="34" charset="0"/>
              </a:rPr>
              <a:t>Then we take questions.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8D3A93-2EAD-43F1-54B5-988177DB6CCA}"/>
              </a:ext>
            </a:extLst>
          </p:cNvPr>
          <p:cNvSpPr txBox="1"/>
          <p:nvPr/>
        </p:nvSpPr>
        <p:spPr>
          <a:xfrm>
            <a:off x="304800" y="6451600"/>
            <a:ext cx="5080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000" b="1">
                <a:solidFill>
                  <a:srgbClr val="8C8C96"/>
                </a:solidFill>
                <a:latin typeface="Calibri" panose="020F0502020204030204" pitchFamily="34" charset="0"/>
              </a:rPr>
              <a:t>CAMPUSPULSE AI  |  HACKATHON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53869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E70676-02A0-687A-23EF-E79E70346EDA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54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203C8-5858-DE5D-EC2C-3BB1CD0DA915}"/>
              </a:ext>
            </a:extLst>
          </p:cNvPr>
          <p:cNvSpPr txBox="1"/>
          <p:nvPr/>
        </p:nvSpPr>
        <p:spPr>
          <a:xfrm>
            <a:off x="355600" y="203200"/>
            <a:ext cx="11430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 b="1">
                <a:solidFill>
                  <a:srgbClr val="FF5454"/>
                </a:solidFill>
                <a:latin typeface="Calibri" panose="020F0502020204030204" pitchFamily="34" charset="0"/>
              </a:rPr>
              <a:t>01 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E77A1-B36E-F8EA-8C2F-C557A7C73832}"/>
              </a:ext>
            </a:extLst>
          </p:cNvPr>
          <p:cNvSpPr txBox="1"/>
          <p:nvPr/>
        </p:nvSpPr>
        <p:spPr>
          <a:xfrm>
            <a:off x="304800" y="508000"/>
            <a:ext cx="114300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Campus issues are real. Reporting is broken.</a:t>
            </a:r>
            <a:endParaRPr lang="en-IN" sz="2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0F2EC-15FD-3899-7EF0-BF8A051C7370}"/>
              </a:ext>
            </a:extLst>
          </p:cNvPr>
          <p:cNvSpPr txBox="1"/>
          <p:nvPr/>
        </p:nvSpPr>
        <p:spPr>
          <a:xfrm>
            <a:off x="355600" y="1092200"/>
            <a:ext cx="1143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Leaking tap. Flickering light. Dead library Wi-Fi. Broken chair. Dark path at night.</a:t>
            </a:r>
            <a:endParaRPr lang="en-IN" sz="14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43EF94-E431-78C3-C322-1DE8004D6B0C}"/>
              </a:ext>
            </a:extLst>
          </p:cNvPr>
          <p:cNvSpPr/>
          <p:nvPr/>
        </p:nvSpPr>
        <p:spPr>
          <a:xfrm>
            <a:off x="355600" y="1701800"/>
            <a:ext cx="3708400" cy="1651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9E874E-A70D-39DF-0F98-F69423DB6CB4}"/>
              </a:ext>
            </a:extLst>
          </p:cNvPr>
          <p:cNvSpPr/>
          <p:nvPr/>
        </p:nvSpPr>
        <p:spPr>
          <a:xfrm>
            <a:off x="355600" y="1701800"/>
            <a:ext cx="101600" cy="1651000"/>
          </a:xfrm>
          <a:prstGeom prst="rect">
            <a:avLst/>
          </a:prstGeom>
          <a:solidFill>
            <a:srgbClr val="FF54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50D1AC-399A-CFF1-42CB-E02CF836290F}"/>
              </a:ext>
            </a:extLst>
          </p:cNvPr>
          <p:cNvSpPr txBox="1"/>
          <p:nvPr/>
        </p:nvSpPr>
        <p:spPr>
          <a:xfrm>
            <a:off x="609600" y="1803400"/>
            <a:ext cx="3251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100" b="1">
                <a:solidFill>
                  <a:srgbClr val="FF5454"/>
                </a:solidFill>
                <a:latin typeface="Calibri" panose="020F0502020204030204" pitchFamily="34" charset="0"/>
              </a:rPr>
              <a:t>CRITICAL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5B3E41-DEE0-6805-FCC4-C86B8743B670}"/>
              </a:ext>
            </a:extLst>
          </p:cNvPr>
          <p:cNvSpPr txBox="1"/>
          <p:nvPr/>
        </p:nvSpPr>
        <p:spPr>
          <a:xfrm>
            <a:off x="609600" y="2082800"/>
            <a:ext cx="32512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Dark path, Hostel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F44A7-262A-B4DC-9A92-650FB0B4E648}"/>
              </a:ext>
            </a:extLst>
          </p:cNvPr>
          <p:cNvSpPr txBox="1"/>
          <p:nvPr/>
        </p:nvSpPr>
        <p:spPr>
          <a:xfrm>
            <a:off x="609600" y="2514600"/>
            <a:ext cx="32512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>
                <a:solidFill>
                  <a:srgbClr val="DCDCE2"/>
                </a:solidFill>
                <a:latin typeface="Calibri" panose="020F0502020204030204" pitchFamily="34" charset="0"/>
              </a:rPr>
              <a:t>Unsafe at night. Nobody filed. Hassle + fear of complaining.</a:t>
            </a:r>
            <a:endParaRPr lang="en-IN" sz="12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196906-7518-09A8-3397-1D1F5F631324}"/>
              </a:ext>
            </a:extLst>
          </p:cNvPr>
          <p:cNvSpPr/>
          <p:nvPr/>
        </p:nvSpPr>
        <p:spPr>
          <a:xfrm>
            <a:off x="4165600" y="1701800"/>
            <a:ext cx="3708400" cy="1651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C1F028-4655-29FF-22C5-69ACD587B678}"/>
              </a:ext>
            </a:extLst>
          </p:cNvPr>
          <p:cNvSpPr/>
          <p:nvPr/>
        </p:nvSpPr>
        <p:spPr>
          <a:xfrm>
            <a:off x="4165600" y="1701800"/>
            <a:ext cx="101600" cy="16510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0678AF-22A8-296B-6C72-44EF38354189}"/>
              </a:ext>
            </a:extLst>
          </p:cNvPr>
          <p:cNvSpPr txBox="1"/>
          <p:nvPr/>
        </p:nvSpPr>
        <p:spPr>
          <a:xfrm>
            <a:off x="4419600" y="1803400"/>
            <a:ext cx="3251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100" b="1">
                <a:solidFill>
                  <a:srgbClr val="FFB020"/>
                </a:solidFill>
                <a:latin typeface="Calibri" panose="020F0502020204030204" pitchFamily="34" charset="0"/>
              </a:rPr>
              <a:t>HIGH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ADB69C-9C15-7794-7F7B-346B2E40E9E0}"/>
              </a:ext>
            </a:extLst>
          </p:cNvPr>
          <p:cNvSpPr txBox="1"/>
          <p:nvPr/>
        </p:nvSpPr>
        <p:spPr>
          <a:xfrm>
            <a:off x="4419600" y="2082800"/>
            <a:ext cx="32512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Library Wi-Fi dead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C617E2-2C3E-C361-2C09-4C582A5A75D1}"/>
              </a:ext>
            </a:extLst>
          </p:cNvPr>
          <p:cNvSpPr txBox="1"/>
          <p:nvPr/>
        </p:nvSpPr>
        <p:spPr>
          <a:xfrm>
            <a:off x="4419600" y="2514600"/>
            <a:ext cx="32512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>
                <a:solidFill>
                  <a:srgbClr val="DCDCE2"/>
                </a:solidFill>
                <a:latin typeface="Calibri" panose="020F0502020204030204" pitchFamily="34" charset="0"/>
              </a:rPr>
              <a:t>11 students stuck. 0 tickets. Someone else already did.</a:t>
            </a:r>
            <a:endParaRPr lang="en-IN" sz="12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F83BF0F-95B4-244A-49C4-FB5048718244}"/>
              </a:ext>
            </a:extLst>
          </p:cNvPr>
          <p:cNvSpPr/>
          <p:nvPr/>
        </p:nvSpPr>
        <p:spPr>
          <a:xfrm>
            <a:off x="7975600" y="1701800"/>
            <a:ext cx="3708400" cy="1651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2A50F6-21F8-454C-5A17-B4680C352CC9}"/>
              </a:ext>
            </a:extLst>
          </p:cNvPr>
          <p:cNvSpPr/>
          <p:nvPr/>
        </p:nvSpPr>
        <p:spPr>
          <a:xfrm>
            <a:off x="7975600" y="1701800"/>
            <a:ext cx="101600" cy="1651000"/>
          </a:xfrm>
          <a:prstGeom prst="rect">
            <a:avLst/>
          </a:prstGeom>
          <a:solidFill>
            <a:srgbClr val="8C8C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67D3C3-F973-9578-0590-29D465B7CFE2}"/>
              </a:ext>
            </a:extLst>
          </p:cNvPr>
          <p:cNvSpPr txBox="1"/>
          <p:nvPr/>
        </p:nvSpPr>
        <p:spPr>
          <a:xfrm>
            <a:off x="8229600" y="1803400"/>
            <a:ext cx="32512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100" b="1">
                <a:solidFill>
                  <a:srgbClr val="8C8C96"/>
                </a:solidFill>
                <a:latin typeface="Calibri" panose="020F0502020204030204" pitchFamily="34" charset="0"/>
              </a:rPr>
              <a:t>LOST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7A8B5F-9978-E454-408F-14E80317172B}"/>
              </a:ext>
            </a:extLst>
          </p:cNvPr>
          <p:cNvSpPr txBox="1"/>
          <p:nvPr/>
        </p:nvSpPr>
        <p:spPr>
          <a:xfrm>
            <a:off x="8229600" y="2082800"/>
            <a:ext cx="32512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Broken chair, LH-2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EB13CE-1A31-E15A-48D7-D2D119713D5D}"/>
              </a:ext>
            </a:extLst>
          </p:cNvPr>
          <p:cNvSpPr txBox="1"/>
          <p:nvPr/>
        </p:nvSpPr>
        <p:spPr>
          <a:xfrm>
            <a:off x="8229600" y="2514600"/>
            <a:ext cx="32512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>
                <a:solidFill>
                  <a:srgbClr val="DCDCE2"/>
                </a:solidFill>
                <a:latin typeface="Calibri" panose="020F0502020204030204" pitchFamily="34" charset="0"/>
              </a:rPr>
              <a:t>Told a staff member verbally. Forgotten by evening.</a:t>
            </a:r>
            <a:endParaRPr lang="en-IN" sz="12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F10627-00DF-0B54-E91B-71877799BAFA}"/>
              </a:ext>
            </a:extLst>
          </p:cNvPr>
          <p:cNvSpPr txBox="1"/>
          <p:nvPr/>
        </p:nvSpPr>
        <p:spPr>
          <a:xfrm>
            <a:off x="355600" y="3556000"/>
            <a:ext cx="11430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300" b="1">
                <a:solidFill>
                  <a:srgbClr val="FFB020"/>
                </a:solidFill>
                <a:latin typeface="Calibri" panose="020F0502020204030204" pitchFamily="34" charset="0"/>
              </a:rPr>
              <a:t>Five gaps this creates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9FFED56-4016-F8F6-CBCB-FF8DABFDCE3D}"/>
              </a:ext>
            </a:extLst>
          </p:cNvPr>
          <p:cNvSpPr/>
          <p:nvPr/>
        </p:nvSpPr>
        <p:spPr>
          <a:xfrm>
            <a:off x="355600" y="3911600"/>
            <a:ext cx="2235200" cy="22352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0FB875-8138-3B2F-C217-B8C8C6BEDAE5}"/>
              </a:ext>
            </a:extLst>
          </p:cNvPr>
          <p:cNvSpPr txBox="1"/>
          <p:nvPr/>
        </p:nvSpPr>
        <p:spPr>
          <a:xfrm>
            <a:off x="482600" y="4038600"/>
            <a:ext cx="1981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300" b="1">
                <a:solidFill>
                  <a:srgbClr val="FFB020"/>
                </a:solidFill>
                <a:latin typeface="Calibri" panose="020F0502020204030204" pitchFamily="34" charset="0"/>
              </a:rPr>
              <a:t>NO TRACK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EBC9C4-5B90-3BC9-8ECD-E8C52A6B2D43}"/>
              </a:ext>
            </a:extLst>
          </p:cNvPr>
          <p:cNvSpPr txBox="1"/>
          <p:nvPr/>
        </p:nvSpPr>
        <p:spPr>
          <a:xfrm>
            <a:off x="482600" y="4521200"/>
            <a:ext cx="19812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>
                <a:solidFill>
                  <a:srgbClr val="DCDCE2"/>
                </a:solidFill>
                <a:latin typeface="Calibri" panose="020F0502020204030204" pitchFamily="34" charset="0"/>
              </a:rPr>
              <a:t>Student cannot see if anyone started the job.</a:t>
            </a:r>
            <a:endParaRPr lang="en-IN" sz="12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6A3AE5-FA8F-1A59-F3A7-BD4755404E24}"/>
              </a:ext>
            </a:extLst>
          </p:cNvPr>
          <p:cNvSpPr/>
          <p:nvPr/>
        </p:nvSpPr>
        <p:spPr>
          <a:xfrm>
            <a:off x="2717800" y="3911600"/>
            <a:ext cx="2235200" cy="22352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191DFF-F75A-8390-30C8-B8B6C57442E0}"/>
              </a:ext>
            </a:extLst>
          </p:cNvPr>
          <p:cNvSpPr txBox="1"/>
          <p:nvPr/>
        </p:nvSpPr>
        <p:spPr>
          <a:xfrm>
            <a:off x="2844800" y="4038600"/>
            <a:ext cx="1981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300" b="1">
                <a:solidFill>
                  <a:srgbClr val="FFB020"/>
                </a:solidFill>
                <a:latin typeface="Calibri" panose="020F0502020204030204" pitchFamily="34" charset="0"/>
              </a:rPr>
              <a:t>NO RANK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A53388-683A-CDF3-C677-611F47B466C1}"/>
              </a:ext>
            </a:extLst>
          </p:cNvPr>
          <p:cNvSpPr txBox="1"/>
          <p:nvPr/>
        </p:nvSpPr>
        <p:spPr>
          <a:xfrm>
            <a:off x="2844800" y="4521200"/>
            <a:ext cx="19812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>
                <a:solidFill>
                  <a:srgbClr val="DCDCE2"/>
                </a:solidFill>
                <a:latin typeface="Calibri" panose="020F0502020204030204" pitchFamily="34" charset="0"/>
              </a:rPr>
              <a:t>A lock is fixed. An electrical hazard waits.</a:t>
            </a:r>
            <a:endParaRPr lang="en-IN" sz="12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9C1E750-06DE-A253-38AF-1A4E99F0E10D}"/>
              </a:ext>
            </a:extLst>
          </p:cNvPr>
          <p:cNvSpPr/>
          <p:nvPr/>
        </p:nvSpPr>
        <p:spPr>
          <a:xfrm>
            <a:off x="5080000" y="3911600"/>
            <a:ext cx="2235200" cy="22352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8BF02A-4E98-234D-A438-FE84E4ADFC7F}"/>
              </a:ext>
            </a:extLst>
          </p:cNvPr>
          <p:cNvSpPr txBox="1"/>
          <p:nvPr/>
        </p:nvSpPr>
        <p:spPr>
          <a:xfrm>
            <a:off x="5207000" y="4038600"/>
            <a:ext cx="1981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300" b="1">
                <a:solidFill>
                  <a:srgbClr val="FFB020"/>
                </a:solidFill>
                <a:latin typeface="Calibri" panose="020F0502020204030204" pitchFamily="34" charset="0"/>
              </a:rPr>
              <a:t>DUPES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3FCC4D-4C43-3093-8EA5-EA2A0A3C7D9E}"/>
              </a:ext>
            </a:extLst>
          </p:cNvPr>
          <p:cNvSpPr txBox="1"/>
          <p:nvPr/>
        </p:nvSpPr>
        <p:spPr>
          <a:xfrm>
            <a:off x="5207000" y="4521200"/>
            <a:ext cx="19812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>
                <a:solidFill>
                  <a:srgbClr val="DCDCE2"/>
                </a:solidFill>
                <a:latin typeface="Calibri" panose="020F0502020204030204" pitchFamily="34" charset="0"/>
              </a:rPr>
              <a:t>Same leak in 8 chats. Or zero reports.</a:t>
            </a:r>
            <a:endParaRPr lang="en-IN" sz="12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08CE38C-EFFC-D2F2-90F8-15C6538785CB}"/>
              </a:ext>
            </a:extLst>
          </p:cNvPr>
          <p:cNvSpPr/>
          <p:nvPr/>
        </p:nvSpPr>
        <p:spPr>
          <a:xfrm>
            <a:off x="7442200" y="3911600"/>
            <a:ext cx="2235200" cy="22352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D3E746-B723-23D2-799B-6444C8FDAD73}"/>
              </a:ext>
            </a:extLst>
          </p:cNvPr>
          <p:cNvSpPr txBox="1"/>
          <p:nvPr/>
        </p:nvSpPr>
        <p:spPr>
          <a:xfrm>
            <a:off x="7569200" y="4038600"/>
            <a:ext cx="1981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300" b="1">
                <a:solidFill>
                  <a:srgbClr val="FFB020"/>
                </a:solidFill>
                <a:latin typeface="Calibri" panose="020F0502020204030204" pitchFamily="34" charset="0"/>
              </a:rPr>
              <a:t>NO TRAIL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C66956-6033-D4B2-E40F-3CD6222BDD9F}"/>
              </a:ext>
            </a:extLst>
          </p:cNvPr>
          <p:cNvSpPr txBox="1"/>
          <p:nvPr/>
        </p:nvSpPr>
        <p:spPr>
          <a:xfrm>
            <a:off x="7569200" y="4521200"/>
            <a:ext cx="19812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>
                <a:solidFill>
                  <a:srgbClr val="DCDCE2"/>
                </a:solidFill>
                <a:latin typeface="Calibri" panose="020F0502020204030204" pitchFamily="34" charset="0"/>
              </a:rPr>
              <a:t>No record of what dies every month.</a:t>
            </a:r>
            <a:endParaRPr lang="en-IN" sz="12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6A3337F-7133-D68B-D730-752CC6A744E1}"/>
              </a:ext>
            </a:extLst>
          </p:cNvPr>
          <p:cNvSpPr/>
          <p:nvPr/>
        </p:nvSpPr>
        <p:spPr>
          <a:xfrm>
            <a:off x="9804400" y="3911600"/>
            <a:ext cx="2235200" cy="22352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5AB12D-3959-5843-F7C9-B366C26676F0}"/>
              </a:ext>
            </a:extLst>
          </p:cNvPr>
          <p:cNvSpPr txBox="1"/>
          <p:nvPr/>
        </p:nvSpPr>
        <p:spPr>
          <a:xfrm>
            <a:off x="9931400" y="4038600"/>
            <a:ext cx="1981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300" b="1">
                <a:solidFill>
                  <a:srgbClr val="FFB020"/>
                </a:solidFill>
                <a:latin typeface="Calibri" panose="020F0502020204030204" pitchFamily="34" charset="0"/>
              </a:rPr>
              <a:t>FEAR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519F05-FDFF-79BC-9B76-A05BB1E67484}"/>
              </a:ext>
            </a:extLst>
          </p:cNvPr>
          <p:cNvSpPr txBox="1"/>
          <p:nvPr/>
        </p:nvSpPr>
        <p:spPr>
          <a:xfrm>
            <a:off x="9931400" y="4521200"/>
            <a:ext cx="19812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>
                <a:solidFill>
                  <a:srgbClr val="DCDCE2"/>
                </a:solidFill>
                <a:latin typeface="Calibri" panose="020F0502020204030204" pitchFamily="34" charset="0"/>
              </a:rPr>
              <a:t>Name on a complaint. They stay quiet.</a:t>
            </a:r>
            <a:endParaRPr lang="en-IN" sz="12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8EBC7CA-CD64-DFC6-FF30-4CB1D19D094A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328A56-C6D7-3B59-AF8E-8E38508F82EA}"/>
              </a:ext>
            </a:extLst>
          </p:cNvPr>
          <p:cNvSpPr txBox="1"/>
          <p:nvPr/>
        </p:nvSpPr>
        <p:spPr>
          <a:xfrm>
            <a:off x="304800" y="6451600"/>
            <a:ext cx="5334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000" b="1">
                <a:solidFill>
                  <a:srgbClr val="8C8C96"/>
                </a:solidFill>
                <a:latin typeface="Calibri" panose="020F0502020204030204" pitchFamily="34" charset="0"/>
              </a:rPr>
              <a:t>CAMPUSPULSE AI  |  HACKATHON PRESENTATION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AED893-B18C-B935-AE05-AA72A0E5B47C}"/>
              </a:ext>
            </a:extLst>
          </p:cNvPr>
          <p:cNvSpPr txBox="1"/>
          <p:nvPr/>
        </p:nvSpPr>
        <p:spPr>
          <a:xfrm>
            <a:off x="10668000" y="6451600"/>
            <a:ext cx="1143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r"/>
            <a:r>
              <a:rPr lang="en-IN" sz="1000">
                <a:solidFill>
                  <a:srgbClr val="8C8C96"/>
                </a:solidFill>
                <a:latin typeface="Calibri" panose="020F0502020204030204" pitchFamily="34" charset="0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383689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56FEE8-4CCF-2B93-1652-48C64F9A12C9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50E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E476A2-939B-7628-2DE6-5F6FDB7D1EB8}"/>
              </a:ext>
            </a:extLst>
          </p:cNvPr>
          <p:cNvSpPr txBox="1"/>
          <p:nvPr/>
        </p:nvSpPr>
        <p:spPr>
          <a:xfrm>
            <a:off x="355600" y="203200"/>
            <a:ext cx="11430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 b="1">
                <a:solidFill>
                  <a:srgbClr val="50E6DC"/>
                </a:solidFill>
                <a:latin typeface="Calibri" panose="020F0502020204030204" pitchFamily="34" charset="0"/>
              </a:rPr>
              <a:t>02 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C3B3E-E79C-3B24-75BE-235D7A1F8695}"/>
              </a:ext>
            </a:extLst>
          </p:cNvPr>
          <p:cNvSpPr txBox="1"/>
          <p:nvPr/>
        </p:nvSpPr>
        <p:spPr>
          <a:xfrm>
            <a:off x="304800" y="508000"/>
            <a:ext cx="114300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One web app. Two roles. One pipeline.</a:t>
            </a:r>
            <a:endParaRPr lang="en-IN" sz="2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C621D-EAF9-874C-38B8-2628A74ED8E8}"/>
              </a:ext>
            </a:extLst>
          </p:cNvPr>
          <p:cNvSpPr txBox="1"/>
          <p:nvPr/>
        </p:nvSpPr>
        <p:spPr>
          <a:xfrm>
            <a:off x="355600" y="1092200"/>
            <a:ext cx="11430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Anonymous, location-tagged reports become a prioritized, trackable maintenance queue.</a:t>
            </a:r>
            <a:endParaRPr lang="en-IN" sz="15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3363E4-6E6A-78E3-46BA-14C9CA53B9E3}"/>
              </a:ext>
            </a:extLst>
          </p:cNvPr>
          <p:cNvSpPr/>
          <p:nvPr/>
        </p:nvSpPr>
        <p:spPr>
          <a:xfrm>
            <a:off x="355600" y="1778000"/>
            <a:ext cx="5638800" cy="3175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6B16C-5260-0DCB-F3A6-EE7C19E3316F}"/>
              </a:ext>
            </a:extLst>
          </p:cNvPr>
          <p:cNvSpPr txBox="1"/>
          <p:nvPr/>
        </p:nvSpPr>
        <p:spPr>
          <a:xfrm>
            <a:off x="558800" y="1930400"/>
            <a:ext cx="5232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 b="1">
                <a:solidFill>
                  <a:srgbClr val="FFB020"/>
                </a:solidFill>
                <a:latin typeface="Calibri" panose="020F0502020204030204" pitchFamily="34" charset="0"/>
              </a:rPr>
              <a:t>STUDENT  |  NO ACCOUNT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D7990-E0F4-7608-DEAC-A9CDA6B53EA9}"/>
              </a:ext>
            </a:extLst>
          </p:cNvPr>
          <p:cNvSpPr txBox="1"/>
          <p:nvPr/>
        </p:nvSpPr>
        <p:spPr>
          <a:xfrm>
            <a:off x="558800" y="2362200"/>
            <a:ext cx="5232400" cy="117981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Pin the spot on the campus map</a:t>
            </a:r>
          </a:p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Type, speak, or add a photo</a:t>
            </a:r>
          </a:p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No name, email, phone, or student ID</a:t>
            </a:r>
          </a:p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Me too on a pin that already exists</a:t>
            </a:r>
          </a:p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Ticket ID + public status on the map</a:t>
            </a:r>
            <a:endParaRPr lang="en-IN" sz="15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B0F22A-4BD7-252D-F4AA-BA720481E084}"/>
              </a:ext>
            </a:extLst>
          </p:cNvPr>
          <p:cNvSpPr/>
          <p:nvPr/>
        </p:nvSpPr>
        <p:spPr>
          <a:xfrm>
            <a:off x="6197600" y="1778000"/>
            <a:ext cx="5638800" cy="3175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4716BC-4ED3-B55B-9D52-AE6AF12A80F2}"/>
              </a:ext>
            </a:extLst>
          </p:cNvPr>
          <p:cNvSpPr txBox="1"/>
          <p:nvPr/>
        </p:nvSpPr>
        <p:spPr>
          <a:xfrm>
            <a:off x="6400800" y="1930400"/>
            <a:ext cx="5232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 b="1">
                <a:solidFill>
                  <a:srgbClr val="50E6DC"/>
                </a:solidFill>
                <a:latin typeface="Calibri" panose="020F0502020204030204" pitchFamily="34" charset="0"/>
              </a:rPr>
              <a:t>ADMIN  |  ONE LOGIN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7B51E8-58EE-D324-7F6F-D12803F141C5}"/>
              </a:ext>
            </a:extLst>
          </p:cNvPr>
          <p:cNvSpPr txBox="1"/>
          <p:nvPr/>
        </p:nvSpPr>
        <p:spPr>
          <a:xfrm>
            <a:off x="6400800" y="2362200"/>
            <a:ext cx="5232400" cy="117981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Safety-first priority queue</a:t>
            </a:r>
          </a:p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Assign, On it + ETA, resolve</a:t>
            </a:r>
          </a:p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Optional after-photo as proof</a:t>
            </a:r>
          </a:p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Campus + building health scores</a:t>
            </a:r>
          </a:p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Avg assign time and avg resolve time</a:t>
            </a:r>
            <a:endParaRPr lang="en-IN" sz="15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24D942-D56D-987C-B56C-1DCE7ABB6A4C}"/>
              </a:ext>
            </a:extLst>
          </p:cNvPr>
          <p:cNvSpPr/>
          <p:nvPr/>
        </p:nvSpPr>
        <p:spPr>
          <a:xfrm>
            <a:off x="355600" y="5156200"/>
            <a:ext cx="11480800" cy="10922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7AF03C-8E2C-EC3D-92F1-04B8476CA3F2}"/>
              </a:ext>
            </a:extLst>
          </p:cNvPr>
          <p:cNvSpPr txBox="1"/>
          <p:nvPr/>
        </p:nvSpPr>
        <p:spPr>
          <a:xfrm>
            <a:off x="558800" y="5308600"/>
            <a:ext cx="11074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 b="1">
                <a:solidFill>
                  <a:srgbClr val="FFB020"/>
                </a:solidFill>
                <a:latin typeface="Calibri" panose="020F0502020204030204" pitchFamily="34" charset="0"/>
              </a:rPr>
              <a:t>WHAT WE ARE SOLVING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B86ACA-8469-1162-42FA-0DA6D0069408}"/>
              </a:ext>
            </a:extLst>
          </p:cNvPr>
          <p:cNvSpPr txBox="1"/>
          <p:nvPr/>
        </p:nvSpPr>
        <p:spPr>
          <a:xfrm>
            <a:off x="558800" y="5638800"/>
            <a:ext cx="110744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500">
                <a:solidFill>
                  <a:srgbClr val="DCDCE2"/>
                </a:solidFill>
                <a:latin typeface="Calibri" panose="020F0502020204030204" pitchFamily="34" charset="0"/>
              </a:rPr>
              <a:t>Frictionless reporting for students. Real-time visibility for facilities. Same map for both.</a:t>
            </a:r>
            <a:endParaRPr lang="en-IN" sz="15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ECF8FF-701D-6A1B-18A5-2D81B0553F13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85C712-5E01-84EF-71C0-5EFA43C244E8}"/>
              </a:ext>
            </a:extLst>
          </p:cNvPr>
          <p:cNvSpPr txBox="1"/>
          <p:nvPr/>
        </p:nvSpPr>
        <p:spPr>
          <a:xfrm>
            <a:off x="304800" y="6451600"/>
            <a:ext cx="5334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000" b="1">
                <a:solidFill>
                  <a:srgbClr val="8C8C96"/>
                </a:solidFill>
                <a:latin typeface="Calibri" panose="020F0502020204030204" pitchFamily="34" charset="0"/>
              </a:rPr>
              <a:t>CAMPUSPULSE AI  |  HACKATHON PRESENTATION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D74ACA-DFDA-4CC4-1B55-E4734591EB17}"/>
              </a:ext>
            </a:extLst>
          </p:cNvPr>
          <p:cNvSpPr txBox="1"/>
          <p:nvPr/>
        </p:nvSpPr>
        <p:spPr>
          <a:xfrm>
            <a:off x="10668000" y="6451600"/>
            <a:ext cx="1143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r"/>
            <a:r>
              <a:rPr lang="en-IN" sz="1000">
                <a:solidFill>
                  <a:srgbClr val="8C8C96"/>
                </a:solidFill>
                <a:latin typeface="Calibri" panose="020F0502020204030204" pitchFamily="34" charset="0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3210007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7CCFE8-EA0E-46D4-B2A6-F43154911F76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24567-3CD5-62F4-67A5-A637B352E3BC}"/>
              </a:ext>
            </a:extLst>
          </p:cNvPr>
          <p:cNvSpPr txBox="1"/>
          <p:nvPr/>
        </p:nvSpPr>
        <p:spPr>
          <a:xfrm>
            <a:off x="355600" y="203200"/>
            <a:ext cx="11430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 b="1">
                <a:solidFill>
                  <a:srgbClr val="FFB020"/>
                </a:solidFill>
                <a:latin typeface="Calibri" panose="020F0502020204030204" pitchFamily="34" charset="0"/>
              </a:rPr>
              <a:t>03  HOW IT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22D41-BBC4-251F-FD29-A2AE8FC78D82}"/>
              </a:ext>
            </a:extLst>
          </p:cNvPr>
          <p:cNvSpPr txBox="1"/>
          <p:nvPr/>
        </p:nvSpPr>
        <p:spPr>
          <a:xfrm>
            <a:off x="304800" y="508000"/>
            <a:ext cx="114300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Report. Understand. Rank. Fix. Measure.</a:t>
            </a:r>
            <a:endParaRPr lang="en-IN" sz="2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CE0FF0-CC0A-89A4-2F0C-9645E618D126}"/>
              </a:ext>
            </a:extLst>
          </p:cNvPr>
          <p:cNvSpPr/>
          <p:nvPr/>
        </p:nvSpPr>
        <p:spPr>
          <a:xfrm>
            <a:off x="304800" y="1117600"/>
            <a:ext cx="7620000" cy="8128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7A631-28E8-F80E-F0D8-E539F2B85243}"/>
              </a:ext>
            </a:extLst>
          </p:cNvPr>
          <p:cNvSpPr txBox="1"/>
          <p:nvPr/>
        </p:nvSpPr>
        <p:spPr>
          <a:xfrm>
            <a:off x="508000" y="1193800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 b="1">
                <a:solidFill>
                  <a:srgbClr val="FFB020"/>
                </a:solidFill>
                <a:latin typeface="Calibri" panose="020F0502020204030204" pitchFamily="34" charset="0"/>
              </a:rPr>
              <a:t>1  REPORT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3CD47-EF29-3E37-B6E9-B6711260C6AC}"/>
              </a:ext>
            </a:extLst>
          </p:cNvPr>
          <p:cNvSpPr txBox="1"/>
          <p:nvPr/>
        </p:nvSpPr>
        <p:spPr>
          <a:xfrm>
            <a:off x="2286000" y="1295400"/>
            <a:ext cx="543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Pin, voice or text. Or tap Me too. Nearby prompt if it already exists.</a:t>
            </a:r>
            <a:endParaRPr lang="en-IN" sz="13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DB796C-EC77-08C1-EFE2-3218E83A4D29}"/>
              </a:ext>
            </a:extLst>
          </p:cNvPr>
          <p:cNvSpPr/>
          <p:nvPr/>
        </p:nvSpPr>
        <p:spPr>
          <a:xfrm>
            <a:off x="304800" y="2032000"/>
            <a:ext cx="7620000" cy="8128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0F5A1B-747F-6CDF-6A2F-7301ED298389}"/>
              </a:ext>
            </a:extLst>
          </p:cNvPr>
          <p:cNvSpPr txBox="1"/>
          <p:nvPr/>
        </p:nvSpPr>
        <p:spPr>
          <a:xfrm>
            <a:off x="508000" y="2108200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 b="1">
                <a:solidFill>
                  <a:srgbClr val="FFB020"/>
                </a:solidFill>
                <a:latin typeface="Calibri" panose="020F0502020204030204" pitchFamily="34" charset="0"/>
              </a:rPr>
              <a:t>2 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A1DFA2-5100-F9F4-B992-FA82621460BA}"/>
              </a:ext>
            </a:extLst>
          </p:cNvPr>
          <p:cNvSpPr txBox="1"/>
          <p:nvPr/>
        </p:nvSpPr>
        <p:spPr>
          <a:xfrm>
            <a:off x="2286000" y="2209800"/>
            <a:ext cx="543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Groq returns category, severity, department, safety 1-5.</a:t>
            </a:r>
            <a:endParaRPr lang="en-IN" sz="13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FBC6D6-6F1F-F458-1C7D-18CB77851787}"/>
              </a:ext>
            </a:extLst>
          </p:cNvPr>
          <p:cNvSpPr/>
          <p:nvPr/>
        </p:nvSpPr>
        <p:spPr>
          <a:xfrm>
            <a:off x="304800" y="2946400"/>
            <a:ext cx="7620000" cy="8128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1014FF-69EF-D710-079E-06F2294D7AAD}"/>
              </a:ext>
            </a:extLst>
          </p:cNvPr>
          <p:cNvSpPr txBox="1"/>
          <p:nvPr/>
        </p:nvSpPr>
        <p:spPr>
          <a:xfrm>
            <a:off x="508000" y="3022600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 b="1">
                <a:solidFill>
                  <a:srgbClr val="FFB020"/>
                </a:solidFill>
                <a:latin typeface="Calibri" panose="020F0502020204030204" pitchFamily="34" charset="0"/>
              </a:rPr>
              <a:t>3  MERGE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53C136-A32D-60D0-7411-827B70DE5528}"/>
              </a:ext>
            </a:extLst>
          </p:cNvPr>
          <p:cNvSpPr txBox="1"/>
          <p:nvPr/>
        </p:nvSpPr>
        <p:spPr>
          <a:xfrm>
            <a:off x="2286000" y="3124200"/>
            <a:ext cx="543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MiniLM + 40m radius. Same leak becomes one cluster. Impact rises.</a:t>
            </a:r>
            <a:endParaRPr lang="en-IN" sz="13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C897D5F-74C4-A279-4B53-A34E5991A7DA}"/>
              </a:ext>
            </a:extLst>
          </p:cNvPr>
          <p:cNvSpPr/>
          <p:nvPr/>
        </p:nvSpPr>
        <p:spPr>
          <a:xfrm>
            <a:off x="304800" y="3860800"/>
            <a:ext cx="7620000" cy="8128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D4CAB7-9B0C-8C5A-9F03-6BC04DCC4644}"/>
              </a:ext>
            </a:extLst>
          </p:cNvPr>
          <p:cNvSpPr txBox="1"/>
          <p:nvPr/>
        </p:nvSpPr>
        <p:spPr>
          <a:xfrm>
            <a:off x="508000" y="3937000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 b="1">
                <a:solidFill>
                  <a:srgbClr val="FFB020"/>
                </a:solidFill>
                <a:latin typeface="Calibri" panose="020F0502020204030204" pitchFamily="34" charset="0"/>
              </a:rPr>
              <a:t>4  QUEUE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38C756-F4B5-772B-5A56-3C05159578CB}"/>
              </a:ext>
            </a:extLst>
          </p:cNvPr>
          <p:cNvSpPr txBox="1"/>
          <p:nvPr/>
        </p:nvSpPr>
        <p:spPr>
          <a:xfrm>
            <a:off x="2286000" y="4038600"/>
            <a:ext cx="543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Priority = 40% safety + 25% people + 20% wait + 15% place.</a:t>
            </a:r>
            <a:endParaRPr lang="en-IN" sz="13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58D957-B86D-13EE-46DF-C92DA1E3F307}"/>
              </a:ext>
            </a:extLst>
          </p:cNvPr>
          <p:cNvSpPr/>
          <p:nvPr/>
        </p:nvSpPr>
        <p:spPr>
          <a:xfrm>
            <a:off x="304800" y="4775200"/>
            <a:ext cx="7620000" cy="8128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E4B485-62BB-ED15-D8E6-9E06371D49A5}"/>
              </a:ext>
            </a:extLst>
          </p:cNvPr>
          <p:cNvSpPr txBox="1"/>
          <p:nvPr/>
        </p:nvSpPr>
        <p:spPr>
          <a:xfrm>
            <a:off x="508000" y="4851400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 b="1">
                <a:solidFill>
                  <a:srgbClr val="FFB020"/>
                </a:solidFill>
                <a:latin typeface="Calibri" panose="020F0502020204030204" pitchFamily="34" charset="0"/>
              </a:rPr>
              <a:t>5  FIX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C1AAE6-D220-099A-E1E4-DB2F8541EFB2}"/>
              </a:ext>
            </a:extLst>
          </p:cNvPr>
          <p:cNvSpPr txBox="1"/>
          <p:nvPr/>
        </p:nvSpPr>
        <p:spPr>
          <a:xfrm>
            <a:off x="2286000" y="4953000"/>
            <a:ext cx="54356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On it, ETA, proof photo. Times stored. Health score updates.</a:t>
            </a:r>
            <a:endParaRPr lang="en-IN" sz="13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D38994C-6358-6B7C-5166-38190D00568D}"/>
              </a:ext>
            </a:extLst>
          </p:cNvPr>
          <p:cNvSpPr/>
          <p:nvPr/>
        </p:nvSpPr>
        <p:spPr>
          <a:xfrm>
            <a:off x="8178800" y="1117600"/>
            <a:ext cx="3708400" cy="4572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57C92-20C4-3DA9-1BD8-84C278E274DA}"/>
              </a:ext>
            </a:extLst>
          </p:cNvPr>
          <p:cNvSpPr txBox="1"/>
          <p:nvPr/>
        </p:nvSpPr>
        <p:spPr>
          <a:xfrm>
            <a:off x="8382000" y="1320800"/>
            <a:ext cx="3302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100" b="1">
                <a:solidFill>
                  <a:srgbClr val="50E6DC"/>
                </a:solidFill>
                <a:latin typeface="Calibri" panose="020F0502020204030204" pitchFamily="34" charset="0"/>
              </a:rPr>
              <a:t>IF JUDGES ASK ABOUT AI</a:t>
            </a:r>
            <a:endParaRPr lang="en-IN" sz="1100" b="1">
              <a:solidFill>
                <a:srgbClr val="50E6DC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33169F-C280-441C-729B-1416BDAD196A}"/>
              </a:ext>
            </a:extLst>
          </p:cNvPr>
          <p:cNvSpPr txBox="1"/>
          <p:nvPr/>
        </p:nvSpPr>
        <p:spPr>
          <a:xfrm>
            <a:off x="8382000" y="1727200"/>
            <a:ext cx="3302000" cy="246221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One text model. Not six.</a:t>
            </a:r>
          </a:p>
          <a:p>
            <a:endParaRPr lang="en-US" sz="1400">
              <a:solidFill>
                <a:srgbClr val="DCDCE2"/>
              </a:solidFill>
              <a:latin typeface="Calibri" panose="020F0502020204030204" pitchFamily="34" charset="0"/>
            </a:endParaRPr>
          </a:p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Classify: Groq Llama</a:t>
            </a:r>
          </a:p>
          <a:p>
            <a:endParaRPr lang="en-US" sz="1400">
              <a:solidFill>
                <a:srgbClr val="DCDCE2"/>
              </a:solidFill>
              <a:latin typeface="Calibri" panose="020F0502020204030204" pitchFamily="34" charset="0"/>
            </a:endParaRPr>
          </a:p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Duplicates: MiniLM</a:t>
            </a:r>
          </a:p>
          <a:p>
            <a:endParaRPr lang="en-US" sz="1400">
              <a:solidFill>
                <a:srgbClr val="DCDCE2"/>
              </a:solidFill>
              <a:latin typeface="Calibri" panose="020F0502020204030204" pitchFamily="34" charset="0"/>
            </a:endParaRPr>
          </a:p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Priority: a public formula</a:t>
            </a:r>
          </a:p>
          <a:p>
            <a:endParaRPr lang="en-US" sz="1400">
              <a:solidFill>
                <a:srgbClr val="DCDCE2"/>
              </a:solidFill>
              <a:latin typeface="Calibri" panose="020F0502020204030204" pitchFamily="34" charset="0"/>
            </a:endParaRPr>
          </a:p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Hotspot: 3 hits / 14 days</a:t>
            </a:r>
          </a:p>
          <a:p>
            <a:endParaRPr lang="en-US" sz="1400">
              <a:solidFill>
                <a:srgbClr val="DCDCE2"/>
              </a:solidFill>
              <a:latin typeface="Calibri" panose="020F0502020204030204" pitchFamily="34" charset="0"/>
            </a:endParaRPr>
          </a:p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If Groq dies: keywords still file the ticket.</a:t>
            </a:r>
            <a:endParaRPr lang="en-IN" sz="14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7720A5-BB10-05AA-E4CE-AC0562D16DDD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F89D06-A0AE-AF83-41FA-3EE5505C4EC4}"/>
              </a:ext>
            </a:extLst>
          </p:cNvPr>
          <p:cNvSpPr txBox="1"/>
          <p:nvPr/>
        </p:nvSpPr>
        <p:spPr>
          <a:xfrm>
            <a:off x="304800" y="6451600"/>
            <a:ext cx="5334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000" b="1">
                <a:solidFill>
                  <a:srgbClr val="8C8C96"/>
                </a:solidFill>
                <a:latin typeface="Calibri" panose="020F0502020204030204" pitchFamily="34" charset="0"/>
              </a:rPr>
              <a:t>CAMPUSPULSE AI  |  HACKATHON PRESENTATION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656A3D-7D65-0A18-46E8-2523B5D39586}"/>
              </a:ext>
            </a:extLst>
          </p:cNvPr>
          <p:cNvSpPr txBox="1"/>
          <p:nvPr/>
        </p:nvSpPr>
        <p:spPr>
          <a:xfrm>
            <a:off x="10668000" y="6451600"/>
            <a:ext cx="1143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r"/>
            <a:r>
              <a:rPr lang="en-IN" sz="1000">
                <a:solidFill>
                  <a:srgbClr val="8C8C96"/>
                </a:solidFill>
                <a:latin typeface="Calibri" panose="020F0502020204030204" pitchFamily="34" charset="0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80424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B9E6FF-722F-BD30-9676-19A35066B775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50E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87F56B-E354-339E-86F6-F946275C4C9B}"/>
              </a:ext>
            </a:extLst>
          </p:cNvPr>
          <p:cNvSpPr txBox="1"/>
          <p:nvPr/>
        </p:nvSpPr>
        <p:spPr>
          <a:xfrm>
            <a:off x="355600" y="203200"/>
            <a:ext cx="11430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 b="1">
                <a:solidFill>
                  <a:srgbClr val="50E6DC"/>
                </a:solidFill>
                <a:latin typeface="Calibri" panose="020F0502020204030204" pitchFamily="34" charset="0"/>
              </a:rPr>
              <a:t>04  WHAT WE IMPLEMENTED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28FD43-943C-16A3-EC68-D2246F477F2B}"/>
              </a:ext>
            </a:extLst>
          </p:cNvPr>
          <p:cNvSpPr txBox="1"/>
          <p:nvPr/>
        </p:nvSpPr>
        <p:spPr>
          <a:xfrm>
            <a:off x="304800" y="508000"/>
            <a:ext cx="114300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Shipped this weekend. This is the MVP.</a:t>
            </a:r>
            <a:endParaRPr lang="en-IN" sz="2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1DAFED-1E1B-2D32-EABB-5A0C6876914D}"/>
              </a:ext>
            </a:extLst>
          </p:cNvPr>
          <p:cNvSpPr/>
          <p:nvPr/>
        </p:nvSpPr>
        <p:spPr>
          <a:xfrm>
            <a:off x="304800" y="1117600"/>
            <a:ext cx="5740400" cy="3810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D9F25-ECFC-EE0A-661C-2C3B30D873B0}"/>
              </a:ext>
            </a:extLst>
          </p:cNvPr>
          <p:cNvSpPr txBox="1"/>
          <p:nvPr/>
        </p:nvSpPr>
        <p:spPr>
          <a:xfrm>
            <a:off x="508000" y="1270000"/>
            <a:ext cx="5334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300" b="1">
                <a:solidFill>
                  <a:srgbClr val="FFB020"/>
                </a:solidFill>
                <a:latin typeface="Calibri" panose="020F0502020204030204" pitchFamily="34" charset="0"/>
              </a:rPr>
              <a:t>STUDENT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90C98B-6709-BAD8-9616-9B1D725EEF31}"/>
              </a:ext>
            </a:extLst>
          </p:cNvPr>
          <p:cNvSpPr/>
          <p:nvPr/>
        </p:nvSpPr>
        <p:spPr>
          <a:xfrm>
            <a:off x="6248400" y="1117600"/>
            <a:ext cx="5638800" cy="3810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03EFA-9751-8B13-E780-9A8DD56A3DBC}"/>
              </a:ext>
            </a:extLst>
          </p:cNvPr>
          <p:cNvSpPr txBox="1"/>
          <p:nvPr/>
        </p:nvSpPr>
        <p:spPr>
          <a:xfrm>
            <a:off x="6451600" y="1270000"/>
            <a:ext cx="52324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300" b="1">
                <a:solidFill>
                  <a:srgbClr val="50E6DC"/>
                </a:solidFill>
                <a:latin typeface="Calibri" panose="020F0502020204030204" pitchFamily="34" charset="0"/>
              </a:rPr>
              <a:t>ADMIN + AI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350454-1A82-DE57-9DEA-555923A343D5}"/>
              </a:ext>
            </a:extLst>
          </p:cNvPr>
          <p:cNvSpPr/>
          <p:nvPr/>
        </p:nvSpPr>
        <p:spPr>
          <a:xfrm>
            <a:off x="558800" y="1676400"/>
            <a:ext cx="114300" cy="114300"/>
          </a:xfrm>
          <a:prstGeom prst="ellipse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7D2FA4-3BE1-7A52-93B5-7D11566D12E4}"/>
              </a:ext>
            </a:extLst>
          </p:cNvPr>
          <p:cNvSpPr txBox="1"/>
          <p:nvPr/>
        </p:nvSpPr>
        <p:spPr>
          <a:xfrm>
            <a:off x="787400" y="1574800"/>
            <a:ext cx="50292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>
                <a:solidFill>
                  <a:srgbClr val="DCDCE2"/>
                </a:solidFill>
                <a:latin typeface="Calibri" panose="020F0502020204030204" pitchFamily="34" charset="0"/>
              </a:rPr>
              <a:t>Anonymous pin + text + photo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122FFF-51A3-AF0F-A2EC-24452DDEF30A}"/>
              </a:ext>
            </a:extLst>
          </p:cNvPr>
          <p:cNvSpPr/>
          <p:nvPr/>
        </p:nvSpPr>
        <p:spPr>
          <a:xfrm>
            <a:off x="6502400" y="1676400"/>
            <a:ext cx="114300" cy="114300"/>
          </a:xfrm>
          <a:prstGeom prst="ellipse">
            <a:avLst/>
          </a:prstGeom>
          <a:solidFill>
            <a:srgbClr val="50E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4A09FA-2150-6FA7-EE63-ED82FEFFA38E}"/>
              </a:ext>
            </a:extLst>
          </p:cNvPr>
          <p:cNvSpPr txBox="1"/>
          <p:nvPr/>
        </p:nvSpPr>
        <p:spPr>
          <a:xfrm>
            <a:off x="6731000" y="1574800"/>
            <a:ext cx="49276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>
                <a:solidFill>
                  <a:srgbClr val="DCDCE2"/>
                </a:solidFill>
                <a:latin typeface="Calibri" panose="020F0502020204030204" pitchFamily="34" charset="0"/>
              </a:rPr>
              <a:t>Groq classify + keyword fallback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164804-5082-42C2-C9F8-C94A13152675}"/>
              </a:ext>
            </a:extLst>
          </p:cNvPr>
          <p:cNvSpPr/>
          <p:nvPr/>
        </p:nvSpPr>
        <p:spPr>
          <a:xfrm>
            <a:off x="558800" y="2184400"/>
            <a:ext cx="114300" cy="114300"/>
          </a:xfrm>
          <a:prstGeom prst="ellipse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7650D6-3046-434A-1EBE-2B258CF94D98}"/>
              </a:ext>
            </a:extLst>
          </p:cNvPr>
          <p:cNvSpPr txBox="1"/>
          <p:nvPr/>
        </p:nvSpPr>
        <p:spPr>
          <a:xfrm>
            <a:off x="787400" y="2082800"/>
            <a:ext cx="50292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Browser voice, no Whisper server</a:t>
            </a:r>
            <a:endParaRPr lang="en-IN" sz="14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42FBEE6-D49E-0107-4D1D-617160D83C61}"/>
              </a:ext>
            </a:extLst>
          </p:cNvPr>
          <p:cNvSpPr/>
          <p:nvPr/>
        </p:nvSpPr>
        <p:spPr>
          <a:xfrm>
            <a:off x="6502400" y="2184400"/>
            <a:ext cx="114300" cy="114300"/>
          </a:xfrm>
          <a:prstGeom prst="ellipse">
            <a:avLst/>
          </a:prstGeom>
          <a:solidFill>
            <a:srgbClr val="50E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7ED6F6-31BE-143A-2E89-792684F90C46}"/>
              </a:ext>
            </a:extLst>
          </p:cNvPr>
          <p:cNvSpPr txBox="1"/>
          <p:nvPr/>
        </p:nvSpPr>
        <p:spPr>
          <a:xfrm>
            <a:off x="6731000" y="2082800"/>
            <a:ext cx="49276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>
                <a:solidFill>
                  <a:srgbClr val="DCDCE2"/>
                </a:solidFill>
                <a:latin typeface="Calibri" panose="020F0502020204030204" pitchFamily="34" charset="0"/>
              </a:rPr>
              <a:t>MiniLM duplicate merge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32D6063-9E64-C224-DF23-2FA7A7AC400D}"/>
              </a:ext>
            </a:extLst>
          </p:cNvPr>
          <p:cNvSpPr/>
          <p:nvPr/>
        </p:nvSpPr>
        <p:spPr>
          <a:xfrm>
            <a:off x="558800" y="2692400"/>
            <a:ext cx="114300" cy="114300"/>
          </a:xfrm>
          <a:prstGeom prst="ellipse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41C645-29AF-9FEC-FDA0-FCB4BA6778E3}"/>
              </a:ext>
            </a:extLst>
          </p:cNvPr>
          <p:cNvSpPr txBox="1"/>
          <p:nvPr/>
        </p:nvSpPr>
        <p:spPr>
          <a:xfrm>
            <a:off x="787400" y="2590800"/>
            <a:ext cx="50292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>
                <a:solidFill>
                  <a:srgbClr val="DCDCE2"/>
                </a:solidFill>
                <a:latin typeface="Calibri" panose="020F0502020204030204" pitchFamily="34" charset="0"/>
              </a:rPr>
              <a:t>Me too on an open pin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E6B937-2AF4-A3C7-D876-2EB9D49F25B5}"/>
              </a:ext>
            </a:extLst>
          </p:cNvPr>
          <p:cNvSpPr/>
          <p:nvPr/>
        </p:nvSpPr>
        <p:spPr>
          <a:xfrm>
            <a:off x="6502400" y="2692400"/>
            <a:ext cx="114300" cy="114300"/>
          </a:xfrm>
          <a:prstGeom prst="ellipse">
            <a:avLst/>
          </a:prstGeom>
          <a:solidFill>
            <a:srgbClr val="50E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BB9EB0-FE34-552C-5071-E1DC2EC2A972}"/>
              </a:ext>
            </a:extLst>
          </p:cNvPr>
          <p:cNvSpPr txBox="1"/>
          <p:nvPr/>
        </p:nvSpPr>
        <p:spPr>
          <a:xfrm>
            <a:off x="6731000" y="2590800"/>
            <a:ext cx="49276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>
                <a:solidFill>
                  <a:srgbClr val="DCDCE2"/>
                </a:solidFill>
                <a:latin typeface="Calibri" panose="020F0502020204030204" pitchFamily="34" charset="0"/>
              </a:rPr>
              <a:t>Admin queue, On it, ETA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EF42BEF-8FC7-FBDF-E21C-3CFAE9231F97}"/>
              </a:ext>
            </a:extLst>
          </p:cNvPr>
          <p:cNvSpPr/>
          <p:nvPr/>
        </p:nvSpPr>
        <p:spPr>
          <a:xfrm>
            <a:off x="558800" y="3200400"/>
            <a:ext cx="114300" cy="114300"/>
          </a:xfrm>
          <a:prstGeom prst="ellipse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26410D-FAF8-82E2-7F1F-D8A5F604560B}"/>
              </a:ext>
            </a:extLst>
          </p:cNvPr>
          <p:cNvSpPr txBox="1"/>
          <p:nvPr/>
        </p:nvSpPr>
        <p:spPr>
          <a:xfrm>
            <a:off x="787400" y="3098800"/>
            <a:ext cx="50292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>
                <a:solidFill>
                  <a:srgbClr val="DCDCE2"/>
                </a:solidFill>
                <a:latin typeface="Calibri" panose="020F0502020204030204" pitchFamily="34" charset="0"/>
              </a:rPr>
              <a:t>Already exists? prompt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96F5A2-1461-CC93-2A4B-B41E707AE06A}"/>
              </a:ext>
            </a:extLst>
          </p:cNvPr>
          <p:cNvSpPr/>
          <p:nvPr/>
        </p:nvSpPr>
        <p:spPr>
          <a:xfrm>
            <a:off x="6502400" y="3200400"/>
            <a:ext cx="114300" cy="114300"/>
          </a:xfrm>
          <a:prstGeom prst="ellipse">
            <a:avLst/>
          </a:prstGeom>
          <a:solidFill>
            <a:srgbClr val="50E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50709E-DF1D-18C9-9BE7-8E6A9BA47BA3}"/>
              </a:ext>
            </a:extLst>
          </p:cNvPr>
          <p:cNvSpPr txBox="1"/>
          <p:nvPr/>
        </p:nvSpPr>
        <p:spPr>
          <a:xfrm>
            <a:off x="6731000" y="3098800"/>
            <a:ext cx="49276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>
                <a:solidFill>
                  <a:srgbClr val="DCDCE2"/>
                </a:solidFill>
                <a:latin typeface="Calibri" panose="020F0502020204030204" pitchFamily="34" charset="0"/>
              </a:rPr>
              <a:t>Resolve proof photo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57E1DFE-32F4-EFD4-3D42-E3A4B847FE56}"/>
              </a:ext>
            </a:extLst>
          </p:cNvPr>
          <p:cNvSpPr/>
          <p:nvPr/>
        </p:nvSpPr>
        <p:spPr>
          <a:xfrm>
            <a:off x="558800" y="3708400"/>
            <a:ext cx="114300" cy="114300"/>
          </a:xfrm>
          <a:prstGeom prst="ellipse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E2FAD7-01F6-BD84-392B-4E3EF591E9C2}"/>
              </a:ext>
            </a:extLst>
          </p:cNvPr>
          <p:cNvSpPr txBox="1"/>
          <p:nvPr/>
        </p:nvSpPr>
        <p:spPr>
          <a:xfrm>
            <a:off x="787400" y="3606800"/>
            <a:ext cx="50292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>
                <a:solidFill>
                  <a:srgbClr val="DCDCE2"/>
                </a:solidFill>
                <a:latin typeface="Calibri" panose="020F0502020204030204" pitchFamily="34" charset="0"/>
              </a:rPr>
              <a:t>Ticket + public map status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5DB3413-0063-45B9-19FC-6E6C3D303F64}"/>
              </a:ext>
            </a:extLst>
          </p:cNvPr>
          <p:cNvSpPr/>
          <p:nvPr/>
        </p:nvSpPr>
        <p:spPr>
          <a:xfrm>
            <a:off x="6502400" y="3708400"/>
            <a:ext cx="114300" cy="114300"/>
          </a:xfrm>
          <a:prstGeom prst="ellipse">
            <a:avLst/>
          </a:prstGeom>
          <a:solidFill>
            <a:srgbClr val="50E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ADCF2E-9838-E8DD-E72C-307E9ADF0784}"/>
              </a:ext>
            </a:extLst>
          </p:cNvPr>
          <p:cNvSpPr txBox="1"/>
          <p:nvPr/>
        </p:nvSpPr>
        <p:spPr>
          <a:xfrm>
            <a:off x="6731000" y="3606800"/>
            <a:ext cx="49276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>
                <a:solidFill>
                  <a:srgbClr val="DCDCE2"/>
                </a:solidFill>
                <a:latin typeface="Calibri" panose="020F0502020204030204" pitchFamily="34" charset="0"/>
              </a:rPr>
              <a:t>Avg assign / resolve time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B88FADD-7AA3-03F6-09B0-F5A446322E2C}"/>
              </a:ext>
            </a:extLst>
          </p:cNvPr>
          <p:cNvSpPr/>
          <p:nvPr/>
        </p:nvSpPr>
        <p:spPr>
          <a:xfrm>
            <a:off x="558800" y="4216400"/>
            <a:ext cx="114300" cy="114300"/>
          </a:xfrm>
          <a:prstGeom prst="ellipse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CBCA07-CD44-A8FA-576D-0323B54E74A3}"/>
              </a:ext>
            </a:extLst>
          </p:cNvPr>
          <p:cNvSpPr txBox="1"/>
          <p:nvPr/>
        </p:nvSpPr>
        <p:spPr>
          <a:xfrm>
            <a:off x="787400" y="4114800"/>
            <a:ext cx="50292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>
                <a:solidFill>
                  <a:srgbClr val="DCDCE2"/>
                </a:solidFill>
                <a:latin typeface="Calibri" panose="020F0502020204030204" pitchFamily="34" charset="0"/>
              </a:rPr>
              <a:t>Per-building health score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12C3BFE-EB61-A762-4CFE-EB303D8D2E06}"/>
              </a:ext>
            </a:extLst>
          </p:cNvPr>
          <p:cNvSpPr/>
          <p:nvPr/>
        </p:nvSpPr>
        <p:spPr>
          <a:xfrm>
            <a:off x="6502400" y="4216400"/>
            <a:ext cx="114300" cy="114300"/>
          </a:xfrm>
          <a:prstGeom prst="ellipse">
            <a:avLst/>
          </a:prstGeom>
          <a:solidFill>
            <a:srgbClr val="50E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579E85-2308-390E-CB39-2265962650B0}"/>
              </a:ext>
            </a:extLst>
          </p:cNvPr>
          <p:cNvSpPr txBox="1"/>
          <p:nvPr/>
        </p:nvSpPr>
        <p:spPr>
          <a:xfrm>
            <a:off x="6731000" y="4114800"/>
            <a:ext cx="49276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Hotspot rule, 3 in 14 days</a:t>
            </a:r>
            <a:endParaRPr lang="en-IN" sz="14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8C23291-0017-B5C3-A65B-1530E9B9B3DB}"/>
              </a:ext>
            </a:extLst>
          </p:cNvPr>
          <p:cNvSpPr/>
          <p:nvPr/>
        </p:nvSpPr>
        <p:spPr>
          <a:xfrm>
            <a:off x="304800" y="5105400"/>
            <a:ext cx="11582400" cy="11684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C8140F-1F77-3406-C25F-B37A1F1EF185}"/>
              </a:ext>
            </a:extLst>
          </p:cNvPr>
          <p:cNvSpPr txBox="1"/>
          <p:nvPr/>
        </p:nvSpPr>
        <p:spPr>
          <a:xfrm>
            <a:off x="508000" y="5232400"/>
            <a:ext cx="11176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 b="1">
                <a:solidFill>
                  <a:srgbClr val="FFB020"/>
                </a:solidFill>
                <a:latin typeface="Calibri" panose="020F0502020204030204" pitchFamily="34" charset="0"/>
              </a:rPr>
              <a:t>PRIORITY  (locked)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E9FA55-70B1-664B-E2AE-0DD9A0A782C5}"/>
              </a:ext>
            </a:extLst>
          </p:cNvPr>
          <p:cNvSpPr txBox="1"/>
          <p:nvPr/>
        </p:nvSpPr>
        <p:spPr>
          <a:xfrm>
            <a:off x="508000" y="5588000"/>
            <a:ext cx="111760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Calibri" panose="020F0502020204030204" pitchFamily="34" charset="0"/>
              </a:rPr>
              <a:t>40% SAFETY   +   25% AFFECTED PEOPLE   +   20% WAIT   +   15% LOCATION</a:t>
            </a:r>
            <a:endParaRPr lang="en-IN" sz="16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AA630A-BABC-D904-9B9D-4EF20DF9B89E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BC97B5-2615-2B7B-D18B-982DB0A5588D}"/>
              </a:ext>
            </a:extLst>
          </p:cNvPr>
          <p:cNvSpPr txBox="1"/>
          <p:nvPr/>
        </p:nvSpPr>
        <p:spPr>
          <a:xfrm>
            <a:off x="304800" y="6451600"/>
            <a:ext cx="5334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000" b="1">
                <a:solidFill>
                  <a:srgbClr val="8C8C96"/>
                </a:solidFill>
                <a:latin typeface="Calibri" panose="020F0502020204030204" pitchFamily="34" charset="0"/>
              </a:rPr>
              <a:t>CAMPUSPULSE AI  |  HACKATHON PRESENTATION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E2D177-4C49-56A5-87EA-228D3A6954E4}"/>
              </a:ext>
            </a:extLst>
          </p:cNvPr>
          <p:cNvSpPr txBox="1"/>
          <p:nvPr/>
        </p:nvSpPr>
        <p:spPr>
          <a:xfrm>
            <a:off x="10668000" y="6451600"/>
            <a:ext cx="1143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r"/>
            <a:r>
              <a:rPr lang="en-IN" sz="1000">
                <a:solidFill>
                  <a:srgbClr val="8C8C96"/>
                </a:solidFill>
                <a:latin typeface="Calibri" panose="020F0502020204030204" pitchFamily="34" charset="0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2097333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FFB52F-0053-825A-6E08-9F53334C6585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38DC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D3AB7-ED84-6432-FD29-73E1BAD745FC}"/>
              </a:ext>
            </a:extLst>
          </p:cNvPr>
          <p:cNvSpPr txBox="1"/>
          <p:nvPr/>
        </p:nvSpPr>
        <p:spPr>
          <a:xfrm>
            <a:off x="355600" y="203200"/>
            <a:ext cx="11430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 b="1">
                <a:solidFill>
                  <a:srgbClr val="38DC82"/>
                </a:solidFill>
                <a:latin typeface="Calibri" panose="020F0502020204030204" pitchFamily="34" charset="0"/>
              </a:rPr>
              <a:t>05  ARCHITECTURE  |  ALL FREE TIERS</a:t>
            </a:r>
            <a:endParaRPr lang="en-IN" sz="1200" b="1">
              <a:solidFill>
                <a:srgbClr val="38DC82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3CC00-C757-1419-26B3-56DD4512A4F9}"/>
              </a:ext>
            </a:extLst>
          </p:cNvPr>
          <p:cNvSpPr txBox="1"/>
          <p:nvPr/>
        </p:nvSpPr>
        <p:spPr>
          <a:xfrm>
            <a:off x="304800" y="508000"/>
            <a:ext cx="114300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One Next.js app. No second backend. No GPU.</a:t>
            </a:r>
            <a:endParaRPr lang="en-IN" sz="2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83876B-DF67-81B6-D175-07E6C4B06B46}"/>
              </a:ext>
            </a:extLst>
          </p:cNvPr>
          <p:cNvSpPr/>
          <p:nvPr/>
        </p:nvSpPr>
        <p:spPr>
          <a:xfrm>
            <a:off x="355600" y="1168400"/>
            <a:ext cx="3556000" cy="11176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904C5-6B55-F925-DD70-5CD36D5F8637}"/>
              </a:ext>
            </a:extLst>
          </p:cNvPr>
          <p:cNvSpPr txBox="1"/>
          <p:nvPr/>
        </p:nvSpPr>
        <p:spPr>
          <a:xfrm>
            <a:off x="508000" y="1498600"/>
            <a:ext cx="32512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Student / Admin browser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02A41A-DC4D-1531-C1ED-96234ECB44A7}"/>
              </a:ext>
            </a:extLst>
          </p:cNvPr>
          <p:cNvSpPr/>
          <p:nvPr/>
        </p:nvSpPr>
        <p:spPr>
          <a:xfrm>
            <a:off x="4318000" y="1168400"/>
            <a:ext cx="3556000" cy="11176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99BE8-3993-D6CB-2A3B-3A78FF43F408}"/>
              </a:ext>
            </a:extLst>
          </p:cNvPr>
          <p:cNvSpPr txBox="1"/>
          <p:nvPr/>
        </p:nvSpPr>
        <p:spPr>
          <a:xfrm>
            <a:off x="4470400" y="1498600"/>
            <a:ext cx="32512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Vercel  |  Next.js API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7073EA-7880-25E7-32E0-DAC3D2FB98F2}"/>
              </a:ext>
            </a:extLst>
          </p:cNvPr>
          <p:cNvSpPr/>
          <p:nvPr/>
        </p:nvSpPr>
        <p:spPr>
          <a:xfrm>
            <a:off x="8280400" y="1168400"/>
            <a:ext cx="3556000" cy="1117600"/>
          </a:xfrm>
          <a:prstGeom prst="roundRect">
            <a:avLst>
              <a:gd name="adj" fmla="val 8000"/>
            </a:avLst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3A6725-94EC-7391-17EE-C32BF8BDC0C5}"/>
              </a:ext>
            </a:extLst>
          </p:cNvPr>
          <p:cNvSpPr txBox="1"/>
          <p:nvPr/>
        </p:nvSpPr>
        <p:spPr>
          <a:xfrm>
            <a:off x="8432800" y="1498600"/>
            <a:ext cx="32512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IN" sz="1500" b="1">
                <a:solidFill>
                  <a:srgbClr val="08080A"/>
                </a:solidFill>
                <a:latin typeface="Calibri" panose="020F0502020204030204" pitchFamily="34" charset="0"/>
              </a:rPr>
              <a:t>Groq Llama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A1B045-3460-DCF5-56D7-29A2A197C23B}"/>
              </a:ext>
            </a:extLst>
          </p:cNvPr>
          <p:cNvSpPr/>
          <p:nvPr/>
        </p:nvSpPr>
        <p:spPr>
          <a:xfrm>
            <a:off x="355600" y="2641600"/>
            <a:ext cx="3556000" cy="1117600"/>
          </a:xfrm>
          <a:prstGeom prst="roundRect">
            <a:avLst>
              <a:gd name="adj" fmla="val 8000"/>
            </a:avLst>
          </a:prstGeom>
          <a:solidFill>
            <a:srgbClr val="50E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926C70-0E6F-9439-349A-E71677A9233A}"/>
              </a:ext>
            </a:extLst>
          </p:cNvPr>
          <p:cNvSpPr txBox="1"/>
          <p:nvPr/>
        </p:nvSpPr>
        <p:spPr>
          <a:xfrm>
            <a:off x="508000" y="2971800"/>
            <a:ext cx="32512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IN" sz="1500" b="1">
                <a:solidFill>
                  <a:srgbClr val="08080A"/>
                </a:solidFill>
                <a:latin typeface="Calibri" panose="020F0502020204030204" pitchFamily="34" charset="0"/>
              </a:rPr>
              <a:t>MiniLM embed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73A95A-F9C3-A030-3534-4172027908A9}"/>
              </a:ext>
            </a:extLst>
          </p:cNvPr>
          <p:cNvSpPr/>
          <p:nvPr/>
        </p:nvSpPr>
        <p:spPr>
          <a:xfrm>
            <a:off x="4318000" y="2641600"/>
            <a:ext cx="3556000" cy="11176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87ED79-709E-E253-EB75-C391A55C2C7E}"/>
              </a:ext>
            </a:extLst>
          </p:cNvPr>
          <p:cNvSpPr txBox="1"/>
          <p:nvPr/>
        </p:nvSpPr>
        <p:spPr>
          <a:xfrm>
            <a:off x="4470400" y="2971800"/>
            <a:ext cx="32512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Supabase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11445A-AD66-BC37-B533-E930260E30AC}"/>
              </a:ext>
            </a:extLst>
          </p:cNvPr>
          <p:cNvSpPr/>
          <p:nvPr/>
        </p:nvSpPr>
        <p:spPr>
          <a:xfrm>
            <a:off x="8280400" y="2641600"/>
            <a:ext cx="3556000" cy="11176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78F349-5832-99B4-5244-B50624F55FFB}"/>
              </a:ext>
            </a:extLst>
          </p:cNvPr>
          <p:cNvSpPr txBox="1"/>
          <p:nvPr/>
        </p:nvSpPr>
        <p:spPr>
          <a:xfrm>
            <a:off x="8432800" y="2971800"/>
            <a:ext cx="32512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Leaflet + OSM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CD528C6-2C0D-8CFA-05D6-986274B48C07}"/>
              </a:ext>
            </a:extLst>
          </p:cNvPr>
          <p:cNvSpPr/>
          <p:nvPr/>
        </p:nvSpPr>
        <p:spPr>
          <a:xfrm>
            <a:off x="355600" y="3962400"/>
            <a:ext cx="11480800" cy="508000"/>
          </a:xfrm>
          <a:prstGeom prst="roundRect">
            <a:avLst>
              <a:gd name="adj" fmla="val 8000"/>
            </a:avLst>
          </a:prstGeom>
          <a:solidFill>
            <a:srgbClr val="1C1C2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D16504-D781-B035-65F9-274CFA250492}"/>
              </a:ext>
            </a:extLst>
          </p:cNvPr>
          <p:cNvSpPr txBox="1"/>
          <p:nvPr/>
        </p:nvSpPr>
        <p:spPr>
          <a:xfrm>
            <a:off x="508000" y="4038600"/>
            <a:ext cx="11176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300">
                <a:solidFill>
                  <a:srgbClr val="DCDCE2"/>
                </a:solidFill>
                <a:latin typeface="Calibri" panose="020F0502020204030204" pitchFamily="34" charset="0"/>
              </a:rPr>
              <a:t>Browser -&gt; Vercel API -&gt; Groq + MiniLM + Supabase. Map runs in the browser. Cost: Rs 0.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35B170-F733-ED64-4774-AEB427A15DE4}"/>
              </a:ext>
            </a:extLst>
          </p:cNvPr>
          <p:cNvSpPr/>
          <p:nvPr/>
        </p:nvSpPr>
        <p:spPr>
          <a:xfrm>
            <a:off x="355600" y="4622800"/>
            <a:ext cx="3810000" cy="1524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BE167-5A32-2326-4F71-E75102D8E7A6}"/>
              </a:ext>
            </a:extLst>
          </p:cNvPr>
          <p:cNvSpPr txBox="1"/>
          <p:nvPr/>
        </p:nvSpPr>
        <p:spPr>
          <a:xfrm>
            <a:off x="558800" y="4724400"/>
            <a:ext cx="3403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 b="1">
                <a:solidFill>
                  <a:srgbClr val="FFB020"/>
                </a:solidFill>
                <a:latin typeface="Calibri" panose="020F0502020204030204" pitchFamily="34" charset="0"/>
              </a:rPr>
              <a:t>APP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74CB49-5FC0-91BF-4A75-03531E225235}"/>
              </a:ext>
            </a:extLst>
          </p:cNvPr>
          <p:cNvSpPr txBox="1"/>
          <p:nvPr/>
        </p:nvSpPr>
        <p:spPr>
          <a:xfrm>
            <a:off x="558800" y="5003800"/>
            <a:ext cx="3403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Next.js + TypeScript + Tailwind</a:t>
            </a:r>
          </a:p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Hosted on Vercel Hobby</a:t>
            </a:r>
            <a:endParaRPr lang="en-IN" sz="13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222DD6C-07C7-CE7E-42C8-AEAE77EBF8A2}"/>
              </a:ext>
            </a:extLst>
          </p:cNvPr>
          <p:cNvSpPr/>
          <p:nvPr/>
        </p:nvSpPr>
        <p:spPr>
          <a:xfrm>
            <a:off x="4368800" y="4622800"/>
            <a:ext cx="3810000" cy="1524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0375E1-1EDF-BCE8-7EDE-8699ABBD0F58}"/>
              </a:ext>
            </a:extLst>
          </p:cNvPr>
          <p:cNvSpPr txBox="1"/>
          <p:nvPr/>
        </p:nvSpPr>
        <p:spPr>
          <a:xfrm>
            <a:off x="4572000" y="4724400"/>
            <a:ext cx="3403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 b="1">
                <a:solidFill>
                  <a:srgbClr val="50E6DC"/>
                </a:solidFill>
                <a:latin typeface="Calibri" panose="020F0502020204030204" pitchFamily="34" charset="0"/>
              </a:rPr>
              <a:t>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982E12-9FB0-3DD9-9F32-615373E967EF}"/>
              </a:ext>
            </a:extLst>
          </p:cNvPr>
          <p:cNvSpPr txBox="1"/>
          <p:nvPr/>
        </p:nvSpPr>
        <p:spPr>
          <a:xfrm>
            <a:off x="4572000" y="5003800"/>
            <a:ext cx="3403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Supabase Postgres + Storage</a:t>
            </a:r>
          </a:p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Auth for admin only</a:t>
            </a:r>
            <a:endParaRPr lang="en-IN" sz="13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6BB5772-DE9A-A75C-0FA9-CCC33C42F6FC}"/>
              </a:ext>
            </a:extLst>
          </p:cNvPr>
          <p:cNvSpPr/>
          <p:nvPr/>
        </p:nvSpPr>
        <p:spPr>
          <a:xfrm>
            <a:off x="8382000" y="4622800"/>
            <a:ext cx="3505200" cy="1524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C2121F-CD44-2185-6143-D49F90A8E373}"/>
              </a:ext>
            </a:extLst>
          </p:cNvPr>
          <p:cNvSpPr txBox="1"/>
          <p:nvPr/>
        </p:nvSpPr>
        <p:spPr>
          <a:xfrm>
            <a:off x="8585200" y="4724400"/>
            <a:ext cx="30988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200" b="1">
                <a:solidFill>
                  <a:srgbClr val="38DC82"/>
                </a:solidFill>
                <a:latin typeface="Calibri" panose="020F0502020204030204" pitchFamily="34" charset="0"/>
              </a:rPr>
              <a:t>INTELLIGENCE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F5530A-329F-0585-8202-00E70FDC6F4D}"/>
              </a:ext>
            </a:extLst>
          </p:cNvPr>
          <p:cNvSpPr txBox="1"/>
          <p:nvPr/>
        </p:nvSpPr>
        <p:spPr>
          <a:xfrm>
            <a:off x="8585200" y="5003800"/>
            <a:ext cx="3098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300">
                <a:solidFill>
                  <a:srgbClr val="DCDCE2"/>
                </a:solidFill>
                <a:latin typeface="Calibri" panose="020F0502020204030204" pitchFamily="34" charset="0"/>
              </a:rPr>
              <a:t>Groq Llama + MiniLM</a:t>
            </a:r>
          </a:p>
          <a:p>
            <a:r>
              <a:rPr lang="en-IN" sz="1300">
                <a:solidFill>
                  <a:srgbClr val="DCDCE2"/>
                </a:solidFill>
                <a:latin typeface="Calibri" panose="020F0502020204030204" pitchFamily="34" charset="0"/>
              </a:rPr>
              <a:t>Web Speech API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06AF6F-FEA9-416F-A754-34EB09768669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882A71-566F-0E1E-46CA-2BA09CD904C6}"/>
              </a:ext>
            </a:extLst>
          </p:cNvPr>
          <p:cNvSpPr txBox="1"/>
          <p:nvPr/>
        </p:nvSpPr>
        <p:spPr>
          <a:xfrm>
            <a:off x="304800" y="6451600"/>
            <a:ext cx="5334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000" b="1">
                <a:solidFill>
                  <a:srgbClr val="8C8C96"/>
                </a:solidFill>
                <a:latin typeface="Calibri" panose="020F0502020204030204" pitchFamily="34" charset="0"/>
              </a:rPr>
              <a:t>CAMPUSPULSE AI  |  HACKATHON PRESENTATION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90B153-9810-788A-4E18-2AB38A2E6748}"/>
              </a:ext>
            </a:extLst>
          </p:cNvPr>
          <p:cNvSpPr txBox="1"/>
          <p:nvPr/>
        </p:nvSpPr>
        <p:spPr>
          <a:xfrm>
            <a:off x="10668000" y="6451600"/>
            <a:ext cx="1143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r"/>
            <a:r>
              <a:rPr lang="en-IN" sz="1000">
                <a:solidFill>
                  <a:srgbClr val="8C8C96"/>
                </a:solidFill>
                <a:latin typeface="Calibri" panose="020F0502020204030204" pitchFamily="34" charset="0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2063106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856486-0CC1-7222-0898-3CCD07FA8371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ECB8EF-32DE-3A32-E4ED-D690A8544047}"/>
              </a:ext>
            </a:extLst>
          </p:cNvPr>
          <p:cNvSpPr txBox="1"/>
          <p:nvPr/>
        </p:nvSpPr>
        <p:spPr>
          <a:xfrm>
            <a:off x="355600" y="203200"/>
            <a:ext cx="11430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 b="1">
                <a:solidFill>
                  <a:srgbClr val="FFB020"/>
                </a:solidFill>
                <a:latin typeface="Calibri" panose="020F0502020204030204" pitchFamily="34" charset="0"/>
              </a:rPr>
              <a:t>06  LIVE DEMO  |  90 SECONDS</a:t>
            </a:r>
            <a:endParaRPr lang="en-IN" sz="1200" b="1">
              <a:solidFill>
                <a:srgbClr val="FFB02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39EF4-AAB9-8101-9355-56D27D233392}"/>
              </a:ext>
            </a:extLst>
          </p:cNvPr>
          <p:cNvSpPr txBox="1"/>
          <p:nvPr/>
        </p:nvSpPr>
        <p:spPr>
          <a:xfrm>
            <a:off x="304800" y="508000"/>
            <a:ext cx="114300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We will switch to the app after this slide.</a:t>
            </a:r>
            <a:endParaRPr lang="en-IN" sz="2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B9A744-8C34-E27E-A2EF-F5B3971A2EF9}"/>
              </a:ext>
            </a:extLst>
          </p:cNvPr>
          <p:cNvSpPr/>
          <p:nvPr/>
        </p:nvSpPr>
        <p:spPr>
          <a:xfrm>
            <a:off x="304800" y="1117600"/>
            <a:ext cx="11582400" cy="889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3AAD47-4E79-09BF-6A67-8F417985E4BB}"/>
              </a:ext>
            </a:extLst>
          </p:cNvPr>
          <p:cNvSpPr/>
          <p:nvPr/>
        </p:nvSpPr>
        <p:spPr>
          <a:xfrm>
            <a:off x="304800" y="1117600"/>
            <a:ext cx="101600" cy="8890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F3A829-0F1E-AD41-0542-EEF0C742FAE5}"/>
              </a:ext>
            </a:extLst>
          </p:cNvPr>
          <p:cNvSpPr txBox="1"/>
          <p:nvPr/>
        </p:nvSpPr>
        <p:spPr>
          <a:xfrm>
            <a:off x="609600" y="1244600"/>
            <a:ext cx="812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2000" b="1">
                <a:solidFill>
                  <a:srgbClr val="FFB020"/>
                </a:solidFill>
                <a:latin typeface="Calibri" panose="020F050202020403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CD0571-09C4-D535-AAC3-04416F5F35D0}"/>
              </a:ext>
            </a:extLst>
          </p:cNvPr>
          <p:cNvSpPr txBox="1"/>
          <p:nvPr/>
        </p:nvSpPr>
        <p:spPr>
          <a:xfrm>
            <a:off x="1498600" y="1219200"/>
            <a:ext cx="292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MAP IS LIVE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FAC9A-ECC2-9234-FE37-AC77D5C7A902}"/>
              </a:ext>
            </a:extLst>
          </p:cNvPr>
          <p:cNvSpPr txBox="1"/>
          <p:nvPr/>
        </p:nvSpPr>
        <p:spPr>
          <a:xfrm>
            <a:off x="4572000" y="1320800"/>
            <a:ext cx="7061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25 seeded issues already on the map. Campus health starts at 72. Library is worse.</a:t>
            </a:r>
            <a:endParaRPr lang="en-IN" sz="13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CDD5BB-DDC4-4186-C611-6DE07B99155E}"/>
              </a:ext>
            </a:extLst>
          </p:cNvPr>
          <p:cNvSpPr/>
          <p:nvPr/>
        </p:nvSpPr>
        <p:spPr>
          <a:xfrm>
            <a:off x="304800" y="2108200"/>
            <a:ext cx="11582400" cy="889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1B437F-D1A5-3D70-4F35-B10DBBBDA034}"/>
              </a:ext>
            </a:extLst>
          </p:cNvPr>
          <p:cNvSpPr/>
          <p:nvPr/>
        </p:nvSpPr>
        <p:spPr>
          <a:xfrm>
            <a:off x="304800" y="2108200"/>
            <a:ext cx="101600" cy="889000"/>
          </a:xfrm>
          <a:prstGeom prst="rect">
            <a:avLst/>
          </a:prstGeom>
          <a:solidFill>
            <a:srgbClr val="50E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C5052-CD4D-C148-F5A9-614FF5030D36}"/>
              </a:ext>
            </a:extLst>
          </p:cNvPr>
          <p:cNvSpPr txBox="1"/>
          <p:nvPr/>
        </p:nvSpPr>
        <p:spPr>
          <a:xfrm>
            <a:off x="609600" y="2235200"/>
            <a:ext cx="812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2000" b="1">
                <a:solidFill>
                  <a:srgbClr val="50E6DC"/>
                </a:solidFill>
                <a:latin typeface="Calibri" panose="020F0502020204030204" pitchFamily="34" charset="0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343DBE-DF15-EBF3-3342-8A26FD8B1B37}"/>
              </a:ext>
            </a:extLst>
          </p:cNvPr>
          <p:cNvSpPr txBox="1"/>
          <p:nvPr/>
        </p:nvSpPr>
        <p:spPr>
          <a:xfrm>
            <a:off x="1498600" y="2209800"/>
            <a:ext cx="292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ME TOO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C0CDFB-2B87-0BF1-43CA-2060A0556D33}"/>
              </a:ext>
            </a:extLst>
          </p:cNvPr>
          <p:cNvSpPr txBox="1"/>
          <p:nvPr/>
        </p:nvSpPr>
        <p:spPr>
          <a:xfrm>
            <a:off x="4572000" y="2311400"/>
            <a:ext cx="7061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Tap Library Wi-Fi. Affected count jumps. Priority jumps. Nobody writes a second report.</a:t>
            </a:r>
            <a:endParaRPr lang="en-IN" sz="13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8620A2-D8E8-EC89-E59D-32DAD6B77AE4}"/>
              </a:ext>
            </a:extLst>
          </p:cNvPr>
          <p:cNvSpPr/>
          <p:nvPr/>
        </p:nvSpPr>
        <p:spPr>
          <a:xfrm>
            <a:off x="304800" y="3098800"/>
            <a:ext cx="11582400" cy="889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EAD791-C41B-6008-6C7E-08FBAC56B338}"/>
              </a:ext>
            </a:extLst>
          </p:cNvPr>
          <p:cNvSpPr/>
          <p:nvPr/>
        </p:nvSpPr>
        <p:spPr>
          <a:xfrm>
            <a:off x="304800" y="3098800"/>
            <a:ext cx="101600" cy="889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85635C-64D0-C590-31F2-003B6EF9603F}"/>
              </a:ext>
            </a:extLst>
          </p:cNvPr>
          <p:cNvSpPr txBox="1"/>
          <p:nvPr/>
        </p:nvSpPr>
        <p:spPr>
          <a:xfrm>
            <a:off x="609600" y="3225800"/>
            <a:ext cx="812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Calibri" panose="020F050202020403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DF5287-799E-9A60-9E71-AE9839B1F450}"/>
              </a:ext>
            </a:extLst>
          </p:cNvPr>
          <p:cNvSpPr txBox="1"/>
          <p:nvPr/>
        </p:nvSpPr>
        <p:spPr>
          <a:xfrm>
            <a:off x="1498600" y="3200400"/>
            <a:ext cx="292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NEW REPORT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E37EDE-BC43-815E-8CEB-A8568FD9F96C}"/>
              </a:ext>
            </a:extLst>
          </p:cNvPr>
          <p:cNvSpPr txBox="1"/>
          <p:nvPr/>
        </p:nvSpPr>
        <p:spPr>
          <a:xfrm>
            <a:off x="4572000" y="3302000"/>
            <a:ext cx="7061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Hostel B Wi-Fi. Prompt: already exists? AI returns Wi-Fi / IT / high in about 2 seconds.</a:t>
            </a:r>
            <a:endParaRPr lang="en-IN" sz="13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35CF83F-DF6E-263D-BA1D-4C86752CD8EC}"/>
              </a:ext>
            </a:extLst>
          </p:cNvPr>
          <p:cNvSpPr/>
          <p:nvPr/>
        </p:nvSpPr>
        <p:spPr>
          <a:xfrm>
            <a:off x="304800" y="4089400"/>
            <a:ext cx="11582400" cy="889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1E4DAD-CE17-2C5F-6A45-17C80D5506DC}"/>
              </a:ext>
            </a:extLst>
          </p:cNvPr>
          <p:cNvSpPr/>
          <p:nvPr/>
        </p:nvSpPr>
        <p:spPr>
          <a:xfrm>
            <a:off x="304800" y="4089400"/>
            <a:ext cx="101600" cy="889000"/>
          </a:xfrm>
          <a:prstGeom prst="rect">
            <a:avLst/>
          </a:prstGeom>
          <a:solidFill>
            <a:srgbClr val="38DC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7F07C9-39E4-7CDF-26E9-CD861C7D55BD}"/>
              </a:ext>
            </a:extLst>
          </p:cNvPr>
          <p:cNvSpPr txBox="1"/>
          <p:nvPr/>
        </p:nvSpPr>
        <p:spPr>
          <a:xfrm>
            <a:off x="609600" y="4216400"/>
            <a:ext cx="812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2000" b="1">
                <a:solidFill>
                  <a:srgbClr val="38DC82"/>
                </a:solidFill>
                <a:latin typeface="Calibri" panose="020F0502020204030204" pitchFamily="34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93646B-C3E1-F036-8114-1A42BA535883}"/>
              </a:ext>
            </a:extLst>
          </p:cNvPr>
          <p:cNvSpPr txBox="1"/>
          <p:nvPr/>
        </p:nvSpPr>
        <p:spPr>
          <a:xfrm>
            <a:off x="1498600" y="4191000"/>
            <a:ext cx="292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500" b="1">
                <a:solidFill>
                  <a:srgbClr val="FFFFFF"/>
                </a:solidFill>
                <a:latin typeface="Calibri" panose="020F0502020204030204" pitchFamily="34" charset="0"/>
              </a:rPr>
              <a:t>ADMIN CLOSES 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002909-9D0F-AF5C-2FD5-F50B6D46EC4C}"/>
              </a:ext>
            </a:extLst>
          </p:cNvPr>
          <p:cNvSpPr txBox="1"/>
          <p:nvPr/>
        </p:nvSpPr>
        <p:spPr>
          <a:xfrm>
            <a:off x="4572000" y="4292600"/>
            <a:ext cx="70612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300">
                <a:solidFill>
                  <a:srgbClr val="DCDCE2"/>
                </a:solidFill>
                <a:latin typeface="Calibri" panose="020F0502020204030204" pitchFamily="34" charset="0"/>
              </a:rPr>
              <a:t>On it, 2 hour ETA, resolve. Health goes 72 to 75. Response trail updates.</a:t>
            </a:r>
            <a:endParaRPr lang="en-IN" sz="13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92E167-D728-D3F9-4CE4-1F31758BE82A}"/>
              </a:ext>
            </a:extLst>
          </p:cNvPr>
          <p:cNvSpPr txBox="1"/>
          <p:nvPr/>
        </p:nvSpPr>
        <p:spPr>
          <a:xfrm>
            <a:off x="355600" y="5207000"/>
            <a:ext cx="11430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 b="1">
                <a:solidFill>
                  <a:srgbClr val="FF5454"/>
                </a:solidFill>
                <a:latin typeface="Calibri" panose="020F0502020204030204" pitchFamily="34" charset="0"/>
              </a:rPr>
              <a:t>BACKUP IF THE LLM IS DOWN</a:t>
            </a:r>
            <a:endParaRPr lang="en-IN" sz="1200" b="1">
              <a:solidFill>
                <a:srgbClr val="FF5454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0853B9-757F-46E3-70F9-7567C9097099}"/>
              </a:ext>
            </a:extLst>
          </p:cNvPr>
          <p:cNvSpPr txBox="1"/>
          <p:nvPr/>
        </p:nvSpPr>
        <p:spPr>
          <a:xfrm>
            <a:off x="355600" y="5537200"/>
            <a:ext cx="11430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Keyword fallback still creates the ticket and drops the pin. Me too never calls the model. Demo cannot die on Wi-Fi.</a:t>
            </a:r>
            <a:endParaRPr lang="en-IN" sz="14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2AFA54-EE38-A4FA-4178-73A5DF11544E}"/>
              </a:ext>
            </a:extLst>
          </p:cNvPr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D00E47-E4D8-D859-225E-A08D1C7AA479}"/>
              </a:ext>
            </a:extLst>
          </p:cNvPr>
          <p:cNvSpPr txBox="1"/>
          <p:nvPr/>
        </p:nvSpPr>
        <p:spPr>
          <a:xfrm>
            <a:off x="304800" y="6451600"/>
            <a:ext cx="5334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000" b="1">
                <a:solidFill>
                  <a:srgbClr val="8C8C96"/>
                </a:solidFill>
                <a:latin typeface="Calibri" panose="020F0502020204030204" pitchFamily="34" charset="0"/>
              </a:rPr>
              <a:t>CAMPUSPULSE AI  |  HACKATHON PRESENTATION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4DE0E7-AFD9-1431-9244-E2D1976E1C88}"/>
              </a:ext>
            </a:extLst>
          </p:cNvPr>
          <p:cNvSpPr txBox="1"/>
          <p:nvPr/>
        </p:nvSpPr>
        <p:spPr>
          <a:xfrm>
            <a:off x="10668000" y="6451600"/>
            <a:ext cx="1143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r"/>
            <a:r>
              <a:rPr lang="en-IN" sz="1000">
                <a:solidFill>
                  <a:srgbClr val="8C8C96"/>
                </a:solidFill>
                <a:latin typeface="Calibri" panose="020F0502020204030204" pitchFamily="34" charset="0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351690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0828D8-9755-0FC9-4ADF-E3B1CFE419ED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6603F-4F08-BE84-378A-6D5F24C5D78E}"/>
              </a:ext>
            </a:extLst>
          </p:cNvPr>
          <p:cNvSpPr txBox="1"/>
          <p:nvPr/>
        </p:nvSpPr>
        <p:spPr>
          <a:xfrm>
            <a:off x="355600" y="203200"/>
            <a:ext cx="11430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200" b="1">
                <a:solidFill>
                  <a:srgbClr val="FFB020"/>
                </a:solidFill>
                <a:latin typeface="Calibri" panose="020F0502020204030204" pitchFamily="34" charset="0"/>
              </a:rPr>
              <a:t>07  WHY THIS IS NOT A GOOGLE FORM</a:t>
            </a:r>
            <a:endParaRPr lang="en-IN" sz="1200" b="1">
              <a:solidFill>
                <a:srgbClr val="FFB02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B2E9E-B050-EE22-CFC3-8C005887D949}"/>
              </a:ext>
            </a:extLst>
          </p:cNvPr>
          <p:cNvSpPr txBox="1"/>
          <p:nvPr/>
        </p:nvSpPr>
        <p:spPr>
          <a:xfrm>
            <a:off x="279400" y="558800"/>
            <a:ext cx="116840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Calibri" panose="020F0502020204030204" pitchFamily="34" charset="0"/>
              </a:rPr>
              <a:t>One leak. One job.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50BB4-88AA-3077-E795-E8A24B8BA9DD}"/>
              </a:ext>
            </a:extLst>
          </p:cNvPr>
          <p:cNvSpPr txBox="1"/>
          <p:nvPr/>
        </p:nvSpPr>
        <p:spPr>
          <a:xfrm>
            <a:off x="355600" y="1371600"/>
            <a:ext cx="114300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600">
                <a:solidFill>
                  <a:srgbClr val="DCDCE2"/>
                </a:solidFill>
                <a:latin typeface="Calibri" panose="020F0502020204030204" pitchFamily="34" charset="0"/>
              </a:rPr>
              <a:t>Students get a voice. Admin gets a queue. Campus gets a number.</a:t>
            </a:r>
            <a:endParaRPr lang="en-IN" sz="16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2A36A4-C4A8-8EDC-06AA-034090898066}"/>
              </a:ext>
            </a:extLst>
          </p:cNvPr>
          <p:cNvSpPr/>
          <p:nvPr/>
        </p:nvSpPr>
        <p:spPr>
          <a:xfrm>
            <a:off x="304800" y="1981200"/>
            <a:ext cx="3759200" cy="2286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39CD1-AE3E-4062-7B7F-4186632F5721}"/>
              </a:ext>
            </a:extLst>
          </p:cNvPr>
          <p:cNvSpPr txBox="1"/>
          <p:nvPr/>
        </p:nvSpPr>
        <p:spPr>
          <a:xfrm>
            <a:off x="508000" y="2159000"/>
            <a:ext cx="33528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 b="1">
                <a:solidFill>
                  <a:srgbClr val="FFB020"/>
                </a:solidFill>
                <a:latin typeface="Calibri" panose="020F0502020204030204" pitchFamily="34" charset="0"/>
              </a:rPr>
              <a:t>SAFETY FIRST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548A14-E998-7F3E-DEC8-D0C334C3BB49}"/>
              </a:ext>
            </a:extLst>
          </p:cNvPr>
          <p:cNvSpPr txBox="1"/>
          <p:nvPr/>
        </p:nvSpPr>
        <p:spPr>
          <a:xfrm>
            <a:off x="508000" y="2616200"/>
            <a:ext cx="3352800" cy="45653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A lock does not beat an electrical hazard. The 40-25-20-15 formula is public.</a:t>
            </a:r>
            <a:endParaRPr lang="en-IN" sz="14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0855C5-FF40-0C56-9710-FF35D3246619}"/>
              </a:ext>
            </a:extLst>
          </p:cNvPr>
          <p:cNvSpPr/>
          <p:nvPr/>
        </p:nvSpPr>
        <p:spPr>
          <a:xfrm>
            <a:off x="4216400" y="1981200"/>
            <a:ext cx="3759200" cy="2286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25999-0150-A252-ED4B-AC68B1135491}"/>
              </a:ext>
            </a:extLst>
          </p:cNvPr>
          <p:cNvSpPr txBox="1"/>
          <p:nvPr/>
        </p:nvSpPr>
        <p:spPr>
          <a:xfrm>
            <a:off x="4419600" y="2159000"/>
            <a:ext cx="33528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 b="1">
                <a:solidFill>
                  <a:srgbClr val="50E6DC"/>
                </a:solidFill>
                <a:latin typeface="Calibri" panose="020F0502020204030204" pitchFamily="34" charset="0"/>
              </a:rPr>
              <a:t>SAME 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97954-44D3-9A70-A133-A9B10019F8CE}"/>
              </a:ext>
            </a:extLst>
          </p:cNvPr>
          <p:cNvSpPr txBox="1"/>
          <p:nvPr/>
        </p:nvSpPr>
        <p:spPr>
          <a:xfrm>
            <a:off x="4419600" y="2616200"/>
            <a:ext cx="3352800" cy="45653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Student and admin see the same pins. No private black box. Shared accountability.</a:t>
            </a:r>
            <a:endParaRPr lang="en-IN" sz="14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3DF5F5-AFC7-8879-CC2F-74E331F1C959}"/>
              </a:ext>
            </a:extLst>
          </p:cNvPr>
          <p:cNvSpPr/>
          <p:nvPr/>
        </p:nvSpPr>
        <p:spPr>
          <a:xfrm>
            <a:off x="8128000" y="1981200"/>
            <a:ext cx="3759200" cy="2286000"/>
          </a:xfrm>
          <a:prstGeom prst="roundRect">
            <a:avLst>
              <a:gd name="adj" fmla="val 8000"/>
            </a:avLst>
          </a:prstGeom>
          <a:solidFill>
            <a:srgbClr val="1212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FD75A-1B15-D270-85FC-F90659375704}"/>
              </a:ext>
            </a:extLst>
          </p:cNvPr>
          <p:cNvSpPr txBox="1"/>
          <p:nvPr/>
        </p:nvSpPr>
        <p:spPr>
          <a:xfrm>
            <a:off x="8331200" y="2159000"/>
            <a:ext cx="33528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400" b="1">
                <a:solidFill>
                  <a:srgbClr val="38DC82"/>
                </a:solidFill>
                <a:latin typeface="Calibri" panose="020F0502020204030204" pitchFamily="34" charset="0"/>
              </a:rPr>
              <a:t>WE MEASURE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DDD51F-D0AF-C7FB-118C-E27F9B343902}"/>
              </a:ext>
            </a:extLst>
          </p:cNvPr>
          <p:cNvSpPr txBox="1"/>
          <p:nvPr/>
        </p:nvSpPr>
        <p:spPr>
          <a:xfrm>
            <a:off x="8331200" y="2616200"/>
            <a:ext cx="33528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400">
                <a:solidFill>
                  <a:srgbClr val="DCDCE2"/>
                </a:solidFill>
                <a:latin typeface="Calibri" panose="020F0502020204030204" pitchFamily="34" charset="0"/>
              </a:rPr>
              <a:t>Avg assign time and avg resolve time sit on the admin home. Admin can see if they are slow.</a:t>
            </a:r>
            <a:endParaRPr lang="en-IN" sz="1400">
              <a:solidFill>
                <a:srgbClr val="DCDCE2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98992-37A9-42DD-7152-2866610A30C4}"/>
              </a:ext>
            </a:extLst>
          </p:cNvPr>
          <p:cNvSpPr/>
          <p:nvPr/>
        </p:nvSpPr>
        <p:spPr>
          <a:xfrm>
            <a:off x="304800" y="4521200"/>
            <a:ext cx="11582400" cy="1701800"/>
          </a:xfrm>
          <a:prstGeom prst="rect">
            <a:avLst/>
          </a:prstGeom>
          <a:solidFill>
            <a:srgbClr val="FFB0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BF7787-8BE7-E59B-E094-44E1C3802482}"/>
              </a:ext>
            </a:extLst>
          </p:cNvPr>
          <p:cNvSpPr txBox="1"/>
          <p:nvPr/>
        </p:nvSpPr>
        <p:spPr>
          <a:xfrm>
            <a:off x="558800" y="4724400"/>
            <a:ext cx="110744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2400" b="1">
                <a:solidFill>
                  <a:srgbClr val="08080A"/>
                </a:solidFill>
                <a:latin typeface="Calibri" panose="020F0502020204030204" pitchFamily="34" charset="0"/>
              </a:rPr>
              <a:t>No account. No name. Just the issue.</a:t>
            </a:r>
            <a:endParaRPr lang="en-IN" sz="2400" b="1">
              <a:solidFill>
                <a:srgbClr val="08080A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232648-CD5A-5118-1667-236A62FA683B}"/>
              </a:ext>
            </a:extLst>
          </p:cNvPr>
          <p:cNvSpPr txBox="1"/>
          <p:nvPr/>
        </p:nvSpPr>
        <p:spPr>
          <a:xfrm>
            <a:off x="558800" y="5283200"/>
            <a:ext cx="110744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2000" b="1">
                <a:solidFill>
                  <a:srgbClr val="08080A"/>
                </a:solidFill>
                <a:latin typeface="Calibri" panose="020F0502020204030204" pitchFamily="34" charset="0"/>
              </a:rPr>
              <a:t>Thank you. Questions?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0259FD-2F9D-D2AA-C872-3DC81F637B75}"/>
              </a:ext>
            </a:extLst>
          </p:cNvPr>
          <p:cNvSpPr txBox="1"/>
          <p:nvPr/>
        </p:nvSpPr>
        <p:spPr>
          <a:xfrm>
            <a:off x="558800" y="5740400"/>
            <a:ext cx="110744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US" sz="1400">
                <a:solidFill>
                  <a:srgbClr val="08080A"/>
                </a:solidFill>
                <a:latin typeface="Calibri" panose="020F0502020204030204" pitchFamily="34" charset="0"/>
              </a:rPr>
              <a:t>Team CampusPulse  |  Edit names on slide 1</a:t>
            </a:r>
            <a:endParaRPr lang="en-IN" sz="1400">
              <a:solidFill>
                <a:srgbClr val="08080A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9FBB64-0653-B524-4F35-3CAA102A2BF0}"/>
              </a:ext>
            </a:extLst>
          </p:cNvPr>
          <p:cNvSpPr txBox="1"/>
          <p:nvPr/>
        </p:nvSpPr>
        <p:spPr>
          <a:xfrm>
            <a:off x="304800" y="6451600"/>
            <a:ext cx="5080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r>
              <a:rPr lang="en-IN" sz="1000" b="1">
                <a:solidFill>
                  <a:srgbClr val="8C8C96"/>
                </a:solidFill>
                <a:latin typeface="Calibri" panose="020F0502020204030204" pitchFamily="34" charset="0"/>
              </a:rPr>
              <a:t>CAMPUSPULSE AI  |  HACKATHON PRESENTATION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527072-8E75-43E4-62B3-EC4C33C31915}"/>
              </a:ext>
            </a:extLst>
          </p:cNvPr>
          <p:cNvSpPr txBox="1"/>
          <p:nvPr/>
        </p:nvSpPr>
        <p:spPr>
          <a:xfrm>
            <a:off x="10668000" y="6451600"/>
            <a:ext cx="1143000" cy="179536"/>
          </a:xfrm>
          <a:prstGeom prst="rect">
            <a:avLst/>
          </a:prstGeom>
          <a:noFill/>
        </p:spPr>
        <p:txBody>
          <a:bodyPr vert="horz" wrap="square" lIns="38100" tIns="12700" rIns="38100" bIns="12700" rtlCol="0">
            <a:spAutoFit/>
          </a:bodyPr>
          <a:lstStyle/>
          <a:p>
            <a:pPr algn="r"/>
            <a:r>
              <a:rPr lang="en-IN" sz="1000">
                <a:solidFill>
                  <a:srgbClr val="8C8C96"/>
                </a:solidFill>
                <a:latin typeface="Calibri" panose="020F0502020204030204" pitchFamily="34" charset="0"/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105239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1338</Words>
  <Application>Microsoft Office PowerPoint</Application>
  <PresentationFormat>Custom</PresentationFormat>
  <Paragraphs>184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KUMAR</dc:creator>
  <cp:lastModifiedBy>ROHIT KUMAR</cp:lastModifiedBy>
  <cp:revision>1</cp:revision>
  <dcterms:created xsi:type="dcterms:W3CDTF">2026-09-18T18:23:48Z</dcterms:created>
  <dcterms:modified xsi:type="dcterms:W3CDTF">2026-09-18T18:23:48Z</dcterms:modified>
</cp:coreProperties>
</file>